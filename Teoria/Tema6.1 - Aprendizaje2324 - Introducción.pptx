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41" r:id="rId2"/>
    <p:sldId id="307" r:id="rId3"/>
    <p:sldId id="542" r:id="rId4"/>
    <p:sldId id="592" r:id="rId5"/>
    <p:sldId id="309" r:id="rId6"/>
    <p:sldId id="423" r:id="rId7"/>
    <p:sldId id="310" r:id="rId8"/>
    <p:sldId id="311" r:id="rId9"/>
    <p:sldId id="544" r:id="rId10"/>
    <p:sldId id="426" r:id="rId11"/>
    <p:sldId id="428" r:id="rId12"/>
    <p:sldId id="536" r:id="rId13"/>
    <p:sldId id="429" r:id="rId14"/>
    <p:sldId id="463" r:id="rId15"/>
    <p:sldId id="580" r:id="rId16"/>
    <p:sldId id="591" r:id="rId17"/>
    <p:sldId id="430" r:id="rId18"/>
  </p:sldIdLst>
  <p:sldSz cx="9906000" cy="6858000" type="A4"/>
  <p:notesSz cx="10234613" cy="70993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vier Arroyo" initials="JA" lastIdx="10" clrIdx="0">
    <p:extLst>
      <p:ext uri="{19B8F6BF-5375-455C-9EA6-DF929625EA0E}">
        <p15:presenceInfo xmlns:p15="http://schemas.microsoft.com/office/powerpoint/2012/main" userId="0c9a617a845682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10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91985" autoAdjust="0"/>
  </p:normalViewPr>
  <p:slideViewPr>
    <p:cSldViewPr>
      <p:cViewPr varScale="1">
        <p:scale>
          <a:sx n="68" d="100"/>
          <a:sy n="68" d="100"/>
        </p:scale>
        <p:origin x="1584" y="51"/>
      </p:cViewPr>
      <p:guideLst>
        <p:guide orient="horz" pos="2160"/>
        <p:guide pos="31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6115" cy="355306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796109" y="0"/>
            <a:ext cx="4436115" cy="355306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6F8DEF46-8396-4FCD-B3C6-5D82EC7E96F3}" type="datetimeFigureOut">
              <a:rPr lang="es-ES" smtClean="0"/>
              <a:pPr/>
              <a:t>07/04/2026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742859"/>
            <a:ext cx="4436115" cy="355306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796109" y="6742859"/>
            <a:ext cx="4436115" cy="355306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248D586-796D-4E05-AD14-403E1CD03B8D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467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79724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01639CA2-B1B9-4120-9E23-329FF5B9C046}" type="datetimeFigureOut">
              <a:rPr lang="es-ES" smtClean="0"/>
              <a:pPr/>
              <a:t>07/04/2026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194050" y="531813"/>
            <a:ext cx="3846513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2" y="6743104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797248" y="6743104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75F9E2-413B-4CF6-9AB0-67114DE0B22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917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Estad%C3%ADstica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s.wikipedia.org/wiki/Variable_estad%C3%ADstica#Variables_cualitativa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5F9E2-413B-4CF6-9AB0-67114DE0B22A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848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E870CD-C2A0-4D05-996E-1FFFF811BE5E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732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E870CD-C2A0-4D05-996E-1FFFF811BE5E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066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3861A3-8C86-4E7A-A193-0BADBF32D073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7" y="3370264"/>
            <a:ext cx="8408988" cy="3197225"/>
          </a:xfrm>
          <a:noFill/>
          <a:ln/>
        </p:spPr>
        <p:txBody>
          <a:bodyPr lIns="97743" tIns="48870" rIns="97743" bIns="48870">
            <a:normAutofit/>
          </a:bodyPr>
          <a:lstStyle/>
          <a:p>
            <a:pPr eaLnBrk="1" hangingPunct="1"/>
            <a:r>
              <a:rPr lang="es-ES" sz="1000" dirty="0"/>
              <a:t>Dentro del supervisado hay otro tipo que se llama </a:t>
            </a:r>
            <a:r>
              <a:rPr lang="ja-JP" altLang="es-ES" sz="1000" dirty="0"/>
              <a:t>“</a:t>
            </a:r>
            <a:r>
              <a:rPr lang="es-ES" altLang="ja-JP" sz="1000" dirty="0"/>
              <a:t>con refuerzo</a:t>
            </a:r>
            <a:r>
              <a:rPr lang="ja-JP" altLang="es-ES" sz="1000" dirty="0"/>
              <a:t>”</a:t>
            </a:r>
            <a:r>
              <a:rPr lang="es-ES" altLang="ja-JP" sz="1000" dirty="0"/>
              <a:t>.</a:t>
            </a: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supervisado</a:t>
            </a:r>
            <a:r>
              <a:rPr lang="es-ES" sz="1000" dirty="0">
                <a:latin typeface="CMR12"/>
                <a:cs typeface="Times New Roman" pitchFamily="18" charset="0"/>
              </a:rPr>
              <a:t>: se conocen los valores reales que deberían predecirse para las observaciones de entrenamiento.</a:t>
            </a:r>
            <a:endParaRPr lang="es-ES" sz="1000" dirty="0"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no supervisado</a:t>
            </a:r>
            <a:r>
              <a:rPr lang="es-ES" sz="1000" dirty="0">
                <a:latin typeface="CMR12"/>
                <a:cs typeface="Times New Roman" pitchFamily="18" charset="0"/>
              </a:rPr>
              <a:t>: no se conocen los valores a predecir, se trata de descubrir patrones en la información de entrada.</a:t>
            </a:r>
            <a:endParaRPr lang="es-ES" sz="1000" dirty="0"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por refuerzo</a:t>
            </a:r>
            <a:r>
              <a:rPr lang="es-ES" sz="1000" dirty="0">
                <a:latin typeface="CMR12"/>
                <a:cs typeface="Times New Roman" pitchFamily="18" charset="0"/>
              </a:rPr>
              <a:t>: por cada respuesta emitida, el agente recibe una recompensa (positiva o negativa) que le permite ajustar su comportamiento.</a:t>
            </a:r>
            <a:endParaRPr lang="es-ES" sz="1000" dirty="0">
              <a:cs typeface="Times New Roman" pitchFamily="18" charset="0"/>
            </a:endParaRPr>
          </a:p>
          <a:p>
            <a:pPr eaLnBrk="1" hangingPunct="1"/>
            <a:r>
              <a:rPr lang="es-ES_tradnl" sz="1000" b="1" dirty="0">
                <a:cs typeface="Times New Roman" pitchFamily="18" charset="0"/>
              </a:rPr>
              <a:t>Aprendizaje supervisado</a:t>
            </a:r>
          </a:p>
          <a:p>
            <a:pPr lvl="1" eaLnBrk="1" hangingPunct="1"/>
            <a:r>
              <a:rPr lang="es-ES_tradnl" sz="1000" dirty="0"/>
              <a:t>Se reciben ejemplos positivos y negativos de un concepto</a:t>
            </a:r>
          </a:p>
          <a:p>
            <a:pPr lvl="1" eaLnBrk="1" hangingPunct="1"/>
            <a:r>
              <a:rPr lang="es-ES_tradnl" sz="1000" dirty="0"/>
              <a:t>Se aprende una regla general para aprender a clasificar nuevos ejemplos</a:t>
            </a:r>
          </a:p>
          <a:p>
            <a:pPr lvl="1" eaLnBrk="1" hangingPunct="1"/>
            <a:r>
              <a:rPr lang="en-US" sz="1000" dirty="0"/>
              <a:t>is the most common learning </a:t>
            </a:r>
            <a:r>
              <a:rPr lang="en-US" sz="1000" dirty="0" err="1"/>
              <a:t>problem.Let's</a:t>
            </a:r>
            <a:r>
              <a:rPr lang="en-US" sz="1000" dirty="0"/>
              <a:t> say you are given</a:t>
            </a:r>
            <a:r>
              <a:rPr lang="es-ES_tradnl" sz="1000" dirty="0"/>
              <a:t> </a:t>
            </a:r>
            <a:r>
              <a:rPr lang="en-US" sz="1000" dirty="0"/>
              <a:t>the weights and lengths of a bunch of individual salmon </a:t>
            </a:r>
            <a:r>
              <a:rPr lang="en-US" sz="1000" dirty="0" err="1"/>
              <a:t>fish,and</a:t>
            </a:r>
            <a:r>
              <a:rPr lang="en-US" sz="1000" dirty="0"/>
              <a:t> the weights and</a:t>
            </a:r>
            <a:r>
              <a:rPr lang="es-ES_tradnl" sz="1000" dirty="0"/>
              <a:t> </a:t>
            </a:r>
            <a:r>
              <a:rPr lang="en-US" sz="1000" dirty="0"/>
              <a:t>lengths of a bunch of individual tuna </a:t>
            </a:r>
            <a:r>
              <a:rPr lang="en-US" sz="1000" dirty="0" err="1"/>
              <a:t>fish.The</a:t>
            </a:r>
            <a:r>
              <a:rPr lang="en-US" sz="1000" dirty="0"/>
              <a:t> job of a supervised learning system</a:t>
            </a:r>
            <a:r>
              <a:rPr lang="es-ES_tradnl" sz="1000" dirty="0"/>
              <a:t> </a:t>
            </a:r>
            <a:r>
              <a:rPr lang="en-US" sz="1000" dirty="0"/>
              <a:t>would be to find a predictive rule </a:t>
            </a:r>
            <a:r>
              <a:rPr lang="en-US" sz="1000" dirty="0" err="1"/>
              <a:t>that,given</a:t>
            </a:r>
            <a:r>
              <a:rPr lang="en-US" sz="1000" dirty="0"/>
              <a:t> the weight and length of a </a:t>
            </a:r>
            <a:r>
              <a:rPr lang="en-US" sz="1000" dirty="0" err="1"/>
              <a:t>fish,would</a:t>
            </a:r>
            <a:r>
              <a:rPr lang="es-ES_tradnl" sz="1000" dirty="0"/>
              <a:t> </a:t>
            </a:r>
            <a:r>
              <a:rPr lang="en-US" sz="1000" dirty="0"/>
              <a:t>predict whether it was a salmon or a tuna.</a:t>
            </a:r>
            <a:endParaRPr lang="es-ES_tradnl" sz="1000" dirty="0"/>
          </a:p>
          <a:p>
            <a:pPr eaLnBrk="1" hangingPunct="1"/>
            <a:r>
              <a:rPr lang="es-ES_tradnl" sz="1000" b="1" dirty="0" err="1">
                <a:cs typeface="Times New Roman" pitchFamily="18" charset="0"/>
              </a:rPr>
              <a:t>Clustering</a:t>
            </a:r>
            <a:endParaRPr lang="en-US" sz="1000" dirty="0">
              <a:cs typeface="Times New Roman" pitchFamily="18" charset="0"/>
            </a:endParaRPr>
          </a:p>
          <a:p>
            <a:pPr lvl="1" eaLnBrk="1" hangingPunct="1"/>
            <a:r>
              <a:rPr lang="en-US" sz="1000" dirty="0" err="1"/>
              <a:t>Another,somewhat</a:t>
            </a:r>
            <a:r>
              <a:rPr lang="en-US" sz="1000" dirty="0"/>
              <a:t> less well-</a:t>
            </a:r>
            <a:r>
              <a:rPr lang="en-US" sz="1000" dirty="0" err="1"/>
              <a:t>specified,learning</a:t>
            </a:r>
            <a:r>
              <a:rPr lang="en-US" sz="1000" dirty="0"/>
              <a:t> problem is </a:t>
            </a:r>
            <a:r>
              <a:rPr lang="en-US" sz="1000" b="1" dirty="0"/>
              <a:t>clustering </a:t>
            </a:r>
            <a:r>
              <a:rPr lang="en-US" sz="1000" dirty="0"/>
              <a:t>.Now you're</a:t>
            </a:r>
            <a:r>
              <a:rPr lang="es-ES_tradnl" sz="1000" dirty="0"/>
              <a:t> </a:t>
            </a:r>
            <a:r>
              <a:rPr lang="en-US" sz="1000" dirty="0"/>
              <a:t>given the descriptions of a bunch of different individual animals (or </a:t>
            </a:r>
            <a:r>
              <a:rPr lang="en-US" sz="1000" dirty="0" err="1"/>
              <a:t>stars,or</a:t>
            </a:r>
            <a:r>
              <a:rPr lang="es-ES_tradnl" sz="1000" dirty="0"/>
              <a:t> </a:t>
            </a:r>
            <a:r>
              <a:rPr lang="en-US" sz="1000" dirty="0"/>
              <a:t>documents)in terms of a set of features (</a:t>
            </a:r>
            <a:r>
              <a:rPr lang="en-US" sz="1000" dirty="0" err="1"/>
              <a:t>weight,number</a:t>
            </a:r>
            <a:r>
              <a:rPr lang="en-US" sz="1000" dirty="0"/>
              <a:t> of </a:t>
            </a:r>
            <a:r>
              <a:rPr lang="en-US" sz="1000" dirty="0" err="1"/>
              <a:t>legs,presence</a:t>
            </a:r>
            <a:r>
              <a:rPr lang="en-US" sz="1000" dirty="0"/>
              <a:t> of hair,</a:t>
            </a:r>
            <a:r>
              <a:rPr lang="es-ES_tradnl" sz="1000" dirty="0"/>
              <a:t> </a:t>
            </a:r>
            <a:r>
              <a:rPr lang="en-US" sz="1000" dirty="0" err="1"/>
              <a:t>etc</a:t>
            </a:r>
            <a:r>
              <a:rPr lang="en-US" sz="1000" dirty="0"/>
              <a:t>),and your job is to divide them into </a:t>
            </a:r>
            <a:r>
              <a:rPr lang="en-US" sz="1000" dirty="0" err="1"/>
              <a:t>groups,or</a:t>
            </a:r>
            <a:r>
              <a:rPr lang="en-US" sz="1000" dirty="0"/>
              <a:t> possibly into a hierarchy of groups</a:t>
            </a:r>
            <a:r>
              <a:rPr lang="es-ES_tradnl" sz="1000" dirty="0"/>
              <a:t> </a:t>
            </a:r>
            <a:r>
              <a:rPr lang="en-US" sz="1000" dirty="0"/>
              <a:t>that "makes </a:t>
            </a:r>
            <a:r>
              <a:rPr lang="en-US" sz="1000" dirty="0" err="1"/>
              <a:t>sense".What</a:t>
            </a:r>
            <a:r>
              <a:rPr lang="en-US" sz="1000" dirty="0"/>
              <a:t> makes this different from supervised learning is that you're</a:t>
            </a:r>
            <a:r>
              <a:rPr lang="es-ES_tradnl" sz="1000" dirty="0"/>
              <a:t> </a:t>
            </a:r>
            <a:r>
              <a:rPr lang="en-US" sz="1000" dirty="0"/>
              <a:t>not told in advance what groups the animals should be put </a:t>
            </a:r>
            <a:r>
              <a:rPr lang="en-US" sz="1000" dirty="0" err="1"/>
              <a:t>into;just</a:t>
            </a:r>
            <a:r>
              <a:rPr lang="en-US" sz="1000" dirty="0"/>
              <a:t> that you should</a:t>
            </a:r>
            <a:r>
              <a:rPr lang="es-ES_tradnl" sz="1000" dirty="0"/>
              <a:t> </a:t>
            </a:r>
            <a:r>
              <a:rPr lang="en-US" sz="1000" dirty="0"/>
              <a:t>find a natural grouping.</a:t>
            </a:r>
          </a:p>
          <a:p>
            <a:pPr eaLnBrk="1" hangingPunct="1"/>
            <a:r>
              <a:rPr lang="es-ES_tradnl" sz="1000" b="1" dirty="0">
                <a:cs typeface="Times New Roman" pitchFamily="18" charset="0"/>
              </a:rPr>
              <a:t>Aprendizaje con refuerzo </a:t>
            </a:r>
          </a:p>
          <a:p>
            <a:pPr eaLnBrk="1" hangingPunct="1"/>
            <a:r>
              <a:rPr lang="es-ES_tradnl" sz="1000" dirty="0">
                <a:cs typeface="Times New Roman" pitchFamily="18" charset="0"/>
              </a:rPr>
              <a:t>No es aprendizaje supervisado porque </a:t>
            </a:r>
            <a:r>
              <a:rPr lang="en-US" sz="1000" dirty="0">
                <a:cs typeface="Times New Roman" pitchFamily="18" charset="0"/>
              </a:rPr>
              <a:t>no-one explicitly tells you the right thing to </a:t>
            </a:r>
            <a:r>
              <a:rPr lang="en-US" sz="1000" dirty="0" err="1">
                <a:cs typeface="Times New Roman" pitchFamily="18" charset="0"/>
              </a:rPr>
              <a:t>do;you</a:t>
            </a:r>
            <a:r>
              <a:rPr lang="en-US" sz="1000" dirty="0">
                <a:cs typeface="Times New Roman" pitchFamily="18" charset="0"/>
              </a:rPr>
              <a:t> just have to try things and see what makes you fall over and what keeps you upright.</a:t>
            </a:r>
          </a:p>
          <a:p>
            <a:pPr eaLnBrk="1" hangingPunct="1"/>
            <a:r>
              <a:rPr lang="en-US" sz="1000" dirty="0">
                <a:cs typeface="Times New Roman" pitchFamily="18" charset="0"/>
              </a:rPr>
              <a:t>Supervised learning is the most </a:t>
            </a:r>
            <a:r>
              <a:rPr lang="en-US" sz="1000" dirty="0" err="1">
                <a:cs typeface="Times New Roman" pitchFamily="18" charset="0"/>
              </a:rPr>
              <a:t>straightforward,prevalent,and</a:t>
            </a:r>
            <a:r>
              <a:rPr lang="en-US" sz="1000" dirty="0">
                <a:cs typeface="Times New Roman" pitchFamily="18" charset="0"/>
              </a:rPr>
              <a:t> well-studied version of the learning </a:t>
            </a:r>
            <a:r>
              <a:rPr lang="en-US" sz="1000" dirty="0" err="1">
                <a:cs typeface="Times New Roman" pitchFamily="18" charset="0"/>
              </a:rPr>
              <a:t>problem,so</a:t>
            </a:r>
            <a:r>
              <a:rPr lang="en-US" sz="1000" dirty="0">
                <a:cs typeface="Times New Roman" pitchFamily="18" charset="0"/>
              </a:rPr>
              <a:t> we are going to start with </a:t>
            </a:r>
            <a:r>
              <a:rPr lang="en-US" sz="1000" dirty="0" err="1">
                <a:cs typeface="Times New Roman" pitchFamily="18" charset="0"/>
              </a:rPr>
              <a:t>it,and</a:t>
            </a:r>
            <a:r>
              <a:rPr lang="en-US" sz="1000" dirty="0">
                <a:cs typeface="Times New Roman" pitchFamily="18" charset="0"/>
              </a:rPr>
              <a:t> spend most of our time on it. Most of the fundamental insights into machine learning can be seen in the supervised case</a:t>
            </a:r>
            <a:r>
              <a:rPr lang="en-US" sz="1000" dirty="0"/>
              <a:t> 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932102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FC2E21-3DC4-4332-ADD2-4A7EF62CBAC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7" y="3370264"/>
            <a:ext cx="8408988" cy="3197225"/>
          </a:xfrm>
          <a:noFill/>
          <a:ln/>
        </p:spPr>
        <p:txBody>
          <a:bodyPr lIns="97743" tIns="48870" rIns="97743" bIns="48870">
            <a:normAutofit/>
          </a:bodyPr>
          <a:lstStyle/>
          <a:p>
            <a:pPr eaLnBrk="1" hangingPunct="1"/>
            <a:r>
              <a:rPr lang="es-ES" sz="1000" dirty="0"/>
              <a:t>Dentro del supervisado hay otro tipo que se llama </a:t>
            </a:r>
            <a:r>
              <a:rPr lang="ja-JP" altLang="es-ES" sz="1000" dirty="0"/>
              <a:t>“</a:t>
            </a:r>
            <a:r>
              <a:rPr lang="es-ES" altLang="ja-JP" sz="1000" dirty="0"/>
              <a:t>con refuerzo</a:t>
            </a:r>
            <a:r>
              <a:rPr lang="ja-JP" altLang="es-ES" sz="1000" dirty="0"/>
              <a:t>”</a:t>
            </a:r>
            <a:r>
              <a:rPr lang="es-ES" altLang="ja-JP" sz="1000" dirty="0"/>
              <a:t>.</a:t>
            </a: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supervisado</a:t>
            </a:r>
            <a:r>
              <a:rPr lang="es-ES" sz="1000" dirty="0">
                <a:latin typeface="CMR12"/>
                <a:cs typeface="Times New Roman" pitchFamily="18" charset="0"/>
              </a:rPr>
              <a:t>: se conocen los valores reales que deberían predecirse para las observaciones de entrenamiento.</a:t>
            </a:r>
            <a:endParaRPr lang="es-ES" sz="1000" dirty="0"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no supervisado</a:t>
            </a:r>
            <a:r>
              <a:rPr lang="es-ES" sz="1000" dirty="0">
                <a:latin typeface="CMR12"/>
                <a:cs typeface="Times New Roman" pitchFamily="18" charset="0"/>
              </a:rPr>
              <a:t>: no se conocen los valores a predecir, se trata de descubrir patrones en la </a:t>
            </a:r>
            <a:r>
              <a:rPr lang="es-ES" sz="1000" dirty="0" err="1">
                <a:latin typeface="CMR12"/>
                <a:cs typeface="Times New Roman" pitchFamily="18" charset="0"/>
              </a:rPr>
              <a:t>informaci´on</a:t>
            </a:r>
            <a:r>
              <a:rPr lang="es-ES" sz="1000" dirty="0">
                <a:latin typeface="CMR12"/>
                <a:cs typeface="Times New Roman" pitchFamily="18" charset="0"/>
              </a:rPr>
              <a:t> de entrada.</a:t>
            </a:r>
            <a:endParaRPr lang="es-ES" sz="1000" dirty="0">
              <a:cs typeface="Times New Roman" pitchFamily="18" charset="0"/>
            </a:endParaRPr>
          </a:p>
          <a:p>
            <a:pPr eaLnBrk="1" hangingPunct="1">
              <a:buFontTx/>
              <a:buChar char="•"/>
            </a:pPr>
            <a:r>
              <a:rPr lang="es-ES" sz="1000" dirty="0">
                <a:latin typeface="CMBX12"/>
                <a:cs typeface="Times New Roman" pitchFamily="18" charset="0"/>
              </a:rPr>
              <a:t>por refuerzo</a:t>
            </a:r>
            <a:r>
              <a:rPr lang="es-ES" sz="1000" dirty="0">
                <a:latin typeface="CMR12"/>
                <a:cs typeface="Times New Roman" pitchFamily="18" charset="0"/>
              </a:rPr>
              <a:t>: por cada respuesta emitida, el agente recibe una recompensa (positiva o negativa) que le permite ajustar su comportamiento.</a:t>
            </a:r>
            <a:endParaRPr lang="es-ES" sz="1000" dirty="0">
              <a:cs typeface="Times New Roman" pitchFamily="18" charset="0"/>
            </a:endParaRPr>
          </a:p>
          <a:p>
            <a:pPr eaLnBrk="1" hangingPunct="1"/>
            <a:r>
              <a:rPr lang="es-ES_tradnl" sz="1000" b="1" dirty="0">
                <a:cs typeface="Times New Roman" pitchFamily="18" charset="0"/>
              </a:rPr>
              <a:t>Aprendizaje supervisado</a:t>
            </a:r>
          </a:p>
          <a:p>
            <a:pPr lvl="1" eaLnBrk="1" hangingPunct="1"/>
            <a:r>
              <a:rPr lang="es-ES_tradnl" sz="1000" dirty="0"/>
              <a:t>Se reciben ejemplos positivos y negativos de un concepto</a:t>
            </a:r>
          </a:p>
          <a:p>
            <a:pPr lvl="1" eaLnBrk="1" hangingPunct="1"/>
            <a:r>
              <a:rPr lang="es-ES_tradnl" sz="1000" dirty="0"/>
              <a:t>Se aprende una regla general para aprender a clasificar nuevos ejemplos</a:t>
            </a:r>
          </a:p>
          <a:p>
            <a:pPr lvl="1" eaLnBrk="1" hangingPunct="1"/>
            <a:r>
              <a:rPr lang="en-US" sz="1000" dirty="0"/>
              <a:t>is the most common learning </a:t>
            </a:r>
            <a:r>
              <a:rPr lang="en-US" sz="1000" dirty="0" err="1"/>
              <a:t>problem.Let's</a:t>
            </a:r>
            <a:r>
              <a:rPr lang="en-US" sz="1000" dirty="0"/>
              <a:t> say you are given</a:t>
            </a:r>
            <a:r>
              <a:rPr lang="es-ES_tradnl" sz="1000" dirty="0"/>
              <a:t> </a:t>
            </a:r>
            <a:r>
              <a:rPr lang="en-US" sz="1000" dirty="0"/>
              <a:t>the weights and lengths of a bunch of individual salmon </a:t>
            </a:r>
            <a:r>
              <a:rPr lang="en-US" sz="1000" dirty="0" err="1"/>
              <a:t>fish,and</a:t>
            </a:r>
            <a:r>
              <a:rPr lang="en-US" sz="1000" dirty="0"/>
              <a:t> the weights and</a:t>
            </a:r>
            <a:r>
              <a:rPr lang="es-ES_tradnl" sz="1000" dirty="0"/>
              <a:t> </a:t>
            </a:r>
            <a:r>
              <a:rPr lang="en-US" sz="1000" dirty="0"/>
              <a:t>lengths of a bunch of individual tuna </a:t>
            </a:r>
            <a:r>
              <a:rPr lang="en-US" sz="1000" dirty="0" err="1"/>
              <a:t>fish.The</a:t>
            </a:r>
            <a:r>
              <a:rPr lang="en-US" sz="1000" dirty="0"/>
              <a:t> job of a supervised learning system</a:t>
            </a:r>
            <a:r>
              <a:rPr lang="es-ES_tradnl" sz="1000" dirty="0"/>
              <a:t> </a:t>
            </a:r>
            <a:r>
              <a:rPr lang="en-US" sz="1000" dirty="0"/>
              <a:t>would be to find a predictive rule </a:t>
            </a:r>
            <a:r>
              <a:rPr lang="en-US" sz="1000" dirty="0" err="1"/>
              <a:t>that,given</a:t>
            </a:r>
            <a:r>
              <a:rPr lang="en-US" sz="1000" dirty="0"/>
              <a:t> the weight and length of a </a:t>
            </a:r>
            <a:r>
              <a:rPr lang="en-US" sz="1000" dirty="0" err="1"/>
              <a:t>fish,would</a:t>
            </a:r>
            <a:r>
              <a:rPr lang="es-ES_tradnl" sz="1000" dirty="0"/>
              <a:t> </a:t>
            </a:r>
            <a:r>
              <a:rPr lang="en-US" sz="1000" dirty="0"/>
              <a:t>predict whether it was a salmon or a tuna.</a:t>
            </a:r>
            <a:endParaRPr lang="es-ES_tradnl" sz="1000" dirty="0"/>
          </a:p>
          <a:p>
            <a:pPr eaLnBrk="1" hangingPunct="1"/>
            <a:r>
              <a:rPr lang="es-ES_tradnl" sz="1000" b="1" dirty="0" err="1">
                <a:cs typeface="Times New Roman" pitchFamily="18" charset="0"/>
              </a:rPr>
              <a:t>Clustering</a:t>
            </a:r>
            <a:endParaRPr lang="en-US" sz="1000" dirty="0">
              <a:cs typeface="Times New Roman" pitchFamily="18" charset="0"/>
            </a:endParaRPr>
          </a:p>
          <a:p>
            <a:pPr lvl="1" eaLnBrk="1" hangingPunct="1"/>
            <a:r>
              <a:rPr lang="en-US" sz="1000" dirty="0" err="1"/>
              <a:t>Another,somewhat</a:t>
            </a:r>
            <a:r>
              <a:rPr lang="en-US" sz="1000" dirty="0"/>
              <a:t> less well-</a:t>
            </a:r>
            <a:r>
              <a:rPr lang="en-US" sz="1000" dirty="0" err="1"/>
              <a:t>specified,learning</a:t>
            </a:r>
            <a:r>
              <a:rPr lang="en-US" sz="1000" dirty="0"/>
              <a:t> problem is </a:t>
            </a:r>
            <a:r>
              <a:rPr lang="en-US" sz="1000" b="1" dirty="0"/>
              <a:t>clustering </a:t>
            </a:r>
            <a:r>
              <a:rPr lang="en-US" sz="1000" dirty="0"/>
              <a:t>.Now you're</a:t>
            </a:r>
            <a:r>
              <a:rPr lang="es-ES_tradnl" sz="1000" dirty="0"/>
              <a:t> </a:t>
            </a:r>
            <a:r>
              <a:rPr lang="en-US" sz="1000" dirty="0"/>
              <a:t>given the descriptions of a bunch of different individual animals (or </a:t>
            </a:r>
            <a:r>
              <a:rPr lang="en-US" sz="1000" dirty="0" err="1"/>
              <a:t>stars,or</a:t>
            </a:r>
            <a:r>
              <a:rPr lang="es-ES_tradnl" sz="1000" dirty="0"/>
              <a:t> </a:t>
            </a:r>
            <a:r>
              <a:rPr lang="en-US" sz="1000" dirty="0"/>
              <a:t>documents)in terms of a set of features (</a:t>
            </a:r>
            <a:r>
              <a:rPr lang="en-US" sz="1000" dirty="0" err="1"/>
              <a:t>weight,number</a:t>
            </a:r>
            <a:r>
              <a:rPr lang="en-US" sz="1000" dirty="0"/>
              <a:t> of </a:t>
            </a:r>
            <a:r>
              <a:rPr lang="en-US" sz="1000" dirty="0" err="1"/>
              <a:t>legs,presence</a:t>
            </a:r>
            <a:r>
              <a:rPr lang="en-US" sz="1000" dirty="0"/>
              <a:t> of hair,</a:t>
            </a:r>
            <a:r>
              <a:rPr lang="es-ES_tradnl" sz="1000" dirty="0"/>
              <a:t> </a:t>
            </a:r>
            <a:r>
              <a:rPr lang="en-US" sz="1000" dirty="0" err="1"/>
              <a:t>etc</a:t>
            </a:r>
            <a:r>
              <a:rPr lang="en-US" sz="1000" dirty="0"/>
              <a:t>),and your job is to divide them into </a:t>
            </a:r>
            <a:r>
              <a:rPr lang="en-US" sz="1000" dirty="0" err="1"/>
              <a:t>groups,or</a:t>
            </a:r>
            <a:r>
              <a:rPr lang="en-US" sz="1000" dirty="0"/>
              <a:t> possibly into a hierarchy of groups</a:t>
            </a:r>
            <a:r>
              <a:rPr lang="es-ES_tradnl" sz="1000" dirty="0"/>
              <a:t> </a:t>
            </a:r>
            <a:r>
              <a:rPr lang="en-US" sz="1000" dirty="0"/>
              <a:t>that "makes </a:t>
            </a:r>
            <a:r>
              <a:rPr lang="en-US" sz="1000" dirty="0" err="1"/>
              <a:t>sense".What</a:t>
            </a:r>
            <a:r>
              <a:rPr lang="en-US" sz="1000" dirty="0"/>
              <a:t> makes this different from supervised learning is that you're</a:t>
            </a:r>
            <a:r>
              <a:rPr lang="es-ES_tradnl" sz="1000" dirty="0"/>
              <a:t> </a:t>
            </a:r>
            <a:r>
              <a:rPr lang="en-US" sz="1000" dirty="0"/>
              <a:t>not told in advance what groups the animals should be put </a:t>
            </a:r>
            <a:r>
              <a:rPr lang="en-US" sz="1000" dirty="0" err="1"/>
              <a:t>into;just</a:t>
            </a:r>
            <a:r>
              <a:rPr lang="en-US" sz="1000" dirty="0"/>
              <a:t> that you should</a:t>
            </a:r>
            <a:r>
              <a:rPr lang="es-ES_tradnl" sz="1000" dirty="0"/>
              <a:t> </a:t>
            </a:r>
            <a:r>
              <a:rPr lang="en-US" sz="1000" dirty="0"/>
              <a:t>find a natural grouping.</a:t>
            </a:r>
          </a:p>
          <a:p>
            <a:pPr eaLnBrk="1" hangingPunct="1"/>
            <a:r>
              <a:rPr lang="es-ES_tradnl" sz="1000" b="1" dirty="0">
                <a:cs typeface="Times New Roman" pitchFamily="18" charset="0"/>
              </a:rPr>
              <a:t>Aprendizaje con refuerzo </a:t>
            </a:r>
          </a:p>
          <a:p>
            <a:pPr eaLnBrk="1" hangingPunct="1"/>
            <a:r>
              <a:rPr lang="es-ES_tradnl" sz="1000" dirty="0">
                <a:cs typeface="Times New Roman" pitchFamily="18" charset="0"/>
              </a:rPr>
              <a:t>No es aprendizaje supervisado porque </a:t>
            </a:r>
            <a:r>
              <a:rPr lang="en-US" sz="1000" dirty="0">
                <a:cs typeface="Times New Roman" pitchFamily="18" charset="0"/>
              </a:rPr>
              <a:t>no-one explicitly tells you the right thing to </a:t>
            </a:r>
            <a:r>
              <a:rPr lang="en-US" sz="1000" dirty="0" err="1">
                <a:cs typeface="Times New Roman" pitchFamily="18" charset="0"/>
              </a:rPr>
              <a:t>do;you</a:t>
            </a:r>
            <a:r>
              <a:rPr lang="en-US" sz="1000" dirty="0">
                <a:cs typeface="Times New Roman" pitchFamily="18" charset="0"/>
              </a:rPr>
              <a:t> just have to try things and see what makes you fall over and what keeps you upright.</a:t>
            </a:r>
          </a:p>
          <a:p>
            <a:pPr eaLnBrk="1" hangingPunct="1"/>
            <a:r>
              <a:rPr lang="en-US" sz="1000" dirty="0">
                <a:cs typeface="Times New Roman" pitchFamily="18" charset="0"/>
              </a:rPr>
              <a:t>Supervised learning is the most </a:t>
            </a:r>
            <a:r>
              <a:rPr lang="en-US" sz="1000" dirty="0" err="1">
                <a:cs typeface="Times New Roman" pitchFamily="18" charset="0"/>
              </a:rPr>
              <a:t>straightforward,prevalent,and</a:t>
            </a:r>
            <a:r>
              <a:rPr lang="en-US" sz="1000" dirty="0">
                <a:cs typeface="Times New Roman" pitchFamily="18" charset="0"/>
              </a:rPr>
              <a:t> well-studied version of the learning </a:t>
            </a:r>
            <a:r>
              <a:rPr lang="en-US" sz="1000" dirty="0" err="1">
                <a:cs typeface="Times New Roman" pitchFamily="18" charset="0"/>
              </a:rPr>
              <a:t>problem,so</a:t>
            </a:r>
            <a:r>
              <a:rPr lang="en-US" sz="1000" dirty="0">
                <a:cs typeface="Times New Roman" pitchFamily="18" charset="0"/>
              </a:rPr>
              <a:t> we are going to start with </a:t>
            </a:r>
            <a:r>
              <a:rPr lang="en-US" sz="1000" dirty="0" err="1">
                <a:cs typeface="Times New Roman" pitchFamily="18" charset="0"/>
              </a:rPr>
              <a:t>it,and</a:t>
            </a:r>
            <a:r>
              <a:rPr lang="en-US" sz="1000" dirty="0">
                <a:cs typeface="Times New Roman" pitchFamily="18" charset="0"/>
              </a:rPr>
              <a:t> spend most of our time on it. Most of the fundamental insights into machine learning can be seen in the supervised case</a:t>
            </a:r>
            <a:r>
              <a:rPr lang="en-US" sz="1000" dirty="0"/>
              <a:t> 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903164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 estandarizar se divide entre la desviación típica.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5F9E2-413B-4CF6-9AB0-67114DE0B22A}" type="slidenum">
              <a:rPr lang="es-ES" smtClean="0"/>
              <a:pPr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096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>
                <a:hlinkClick r:id="rId3" tooltip="Estadística"/>
              </a:rPr>
              <a:t>estadística</a:t>
            </a:r>
            <a:r>
              <a:rPr lang="es-ES" dirty="0"/>
              <a:t> las </a:t>
            </a:r>
            <a:r>
              <a:rPr lang="es-ES" b="1" dirty="0"/>
              <a:t>tablas de contingencia</a:t>
            </a:r>
            <a:r>
              <a:rPr lang="es-ES" dirty="0"/>
              <a:t> se emplean para registrar y analizar la asociación entre dos o más variables, habitualmente de naturaleza </a:t>
            </a:r>
            <a:r>
              <a:rPr lang="es-ES" dirty="0">
                <a:hlinkClick r:id="rId4" tooltip="Variable estadística"/>
              </a:rPr>
              <a:t>cualitativa</a:t>
            </a:r>
            <a:r>
              <a:rPr lang="es-ES" dirty="0"/>
              <a:t> (nominales u ordinales).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5F9E2-413B-4CF6-9AB0-67114DE0B22A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360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Título">
            <a:extLst>
              <a:ext uri="{FF2B5EF4-FFF2-40B4-BE49-F238E27FC236}">
                <a16:creationId xmlns:a16="http://schemas.microsoft.com/office/drawing/2014/main" id="{16C030DB-8555-F343-B64E-0B48D50F0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576" y="2073275"/>
            <a:ext cx="7772400" cy="147002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2" name="2 Subtítulo">
            <a:extLst>
              <a:ext uri="{FF2B5EF4-FFF2-40B4-BE49-F238E27FC236}">
                <a16:creationId xmlns:a16="http://schemas.microsoft.com/office/drawing/2014/main" id="{A0D32D7D-B2C6-314C-82F9-663CA851C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2376" y="382905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</a:p>
        </p:txBody>
      </p:sp>
      <p:pic>
        <p:nvPicPr>
          <p:cNvPr id="14" name="Picture 6" descr="EscudoUCM color">
            <a:extLst>
              <a:ext uri="{FF2B5EF4-FFF2-40B4-BE49-F238E27FC236}">
                <a16:creationId xmlns:a16="http://schemas.microsoft.com/office/drawing/2014/main" id="{F31DEEA2-0344-5645-AECC-62C4B6B0AD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83115" y="4784725"/>
            <a:ext cx="13303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5 Marcador de número de diapositiva">
            <a:extLst>
              <a:ext uri="{FF2B5EF4-FFF2-40B4-BE49-F238E27FC236}">
                <a16:creationId xmlns:a16="http://schemas.microsoft.com/office/drawing/2014/main" id="{B55DE3EF-2C2D-104A-A751-BFD46FE5A1A1}"/>
              </a:ext>
            </a:extLst>
          </p:cNvPr>
          <p:cNvSpPr txBox="1">
            <a:spLocks/>
          </p:cNvSpPr>
          <p:nvPr userDrawn="1"/>
        </p:nvSpPr>
        <p:spPr>
          <a:xfrm>
            <a:off x="0" y="6597352"/>
            <a:ext cx="9906000" cy="25200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60648"/>
            <a:ext cx="9906000" cy="468000"/>
          </a:xfr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</p:spPr>
        <p:txBody>
          <a:bodyPr>
            <a:norm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5301" y="908720"/>
            <a:ext cx="8915400" cy="5217445"/>
          </a:xfrm>
        </p:spPr>
        <p:txBody>
          <a:bodyPr/>
          <a:lstStyle>
            <a:lvl1pPr>
              <a:buFontTx/>
              <a:buBlip>
                <a:blip r:embed="rId2"/>
              </a:buBlip>
              <a:defRPr sz="2200" baseline="0">
                <a:latin typeface="Arial" pitchFamily="34" charset="0"/>
                <a:cs typeface="Arial" pitchFamily="34" charset="0"/>
              </a:defRPr>
            </a:lvl1pPr>
            <a:lvl2pPr>
              <a:defRPr sz="2000" baseline="0">
                <a:latin typeface="Arial" pitchFamily="34" charset="0"/>
                <a:cs typeface="Arial" pitchFamily="34" charset="0"/>
              </a:defRPr>
            </a:lvl2pPr>
            <a:lvl3pPr>
              <a:defRPr sz="1800" baseline="0">
                <a:latin typeface="Arial" pitchFamily="34" charset="0"/>
                <a:cs typeface="Arial" pitchFamily="34" charset="0"/>
              </a:defRPr>
            </a:lvl3pPr>
            <a:lvl4pPr>
              <a:defRPr sz="1600" baseline="0">
                <a:latin typeface="Arial" pitchFamily="34" charset="0"/>
                <a:cs typeface="Arial" pitchFamily="34" charset="0"/>
              </a:defRPr>
            </a:lvl4pPr>
            <a:lvl5pPr>
              <a:defRPr sz="1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" y="0"/>
            <a:ext cx="9906000" cy="252000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algn="l"/>
            <a:r>
              <a:rPr lang="es-ES"/>
              <a:t>Aprendizaje automático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606000"/>
            <a:ext cx="9906000" cy="252000"/>
          </a:xfr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60648"/>
            <a:ext cx="9906000" cy="468000"/>
          </a:xfrm>
          <a:gradFill>
            <a:gsLst>
              <a:gs pos="0">
                <a:schemeClr val="tx2"/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70043" y="982801"/>
            <a:ext cx="4644744" cy="1774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69612" y="981076"/>
            <a:ext cx="4644744" cy="1774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6606000"/>
            <a:ext cx="9906000" cy="252000"/>
          </a:xfr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solidFill>
              <a:schemeClr val="bg1"/>
            </a:solidFill>
          </a:ln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IA 2015 – 2016			          ISIA – FDI – UCM		    	   Tema  7 - </a:t>
            </a:r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0" y="0"/>
            <a:ext cx="9906000" cy="252000"/>
          </a:xfrm>
          <a:gradFill>
            <a:gsLst>
              <a:gs pos="0">
                <a:schemeClr val="tx2">
                  <a:lumMod val="40000"/>
                  <a:lumOff val="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Aprendizaje automático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>
            <a:extLst>
              <a:ext uri="{FF2B5EF4-FFF2-40B4-BE49-F238E27FC236}">
                <a16:creationId xmlns:a16="http://schemas.microsoft.com/office/drawing/2014/main" id="{16C030DB-8555-F343-B64E-0B48D50F001A}"/>
              </a:ext>
            </a:extLst>
          </p:cNvPr>
          <p:cNvSpPr txBox="1">
            <a:spLocks/>
          </p:cNvSpPr>
          <p:nvPr userDrawn="1"/>
        </p:nvSpPr>
        <p:spPr>
          <a:xfrm>
            <a:off x="528060" y="4118649"/>
            <a:ext cx="8928992" cy="1650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2951" y="4262775"/>
            <a:ext cx="84201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95301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2971" y="273052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1" y="274640"/>
            <a:ext cx="652145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1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95301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384551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Aprendizaje automático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099301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B433F-6FC9-4D8E-935C-0685DA937467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97357-E95A-764C-BB2B-B99FFC41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Aprendizaje automático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0B4552-858E-984A-9129-C966FD268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Departamento</a:t>
            </a:r>
            <a:r>
              <a:rPr lang="en-US"/>
              <a:t> de </a:t>
            </a:r>
            <a:r>
              <a:rPr lang="en-US" err="1"/>
              <a:t>Ingeniería</a:t>
            </a:r>
            <a:r>
              <a:rPr lang="en-US"/>
              <a:t> del Software </a:t>
            </a:r>
            <a:br>
              <a:rPr lang="en-US"/>
            </a:br>
            <a:r>
              <a:rPr lang="en-US"/>
              <a:t>e </a:t>
            </a:r>
            <a:r>
              <a:rPr lang="en-US" err="1"/>
              <a:t>Inteligencia</a:t>
            </a:r>
            <a:r>
              <a:rPr lang="en-US"/>
              <a:t> Artificial</a:t>
            </a:r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005160-ADEC-4349-8E62-5BACFC0B90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97352"/>
            <a:ext cx="9906000" cy="252000"/>
          </a:xfrm>
        </p:spPr>
        <p:txBody>
          <a:bodyPr/>
          <a:lstStyle/>
          <a:p>
            <a:pPr algn="l"/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5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Aprendizaje automático</a:t>
            </a:r>
            <a:endParaRPr lang="es-E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72480" y="908720"/>
            <a:ext cx="9138221" cy="5688632"/>
          </a:xfrm>
          <a:ln w="9525" cmpd="sng"/>
        </p:spPr>
        <p:txBody>
          <a:bodyPr>
            <a:normAutofit/>
          </a:bodyPr>
          <a:lstStyle/>
          <a:p>
            <a:pPr lvl="1">
              <a:buBlip>
                <a:blip r:embed="rId3"/>
              </a:buBlip>
            </a:pPr>
            <a:r>
              <a:rPr lang="es-ES" sz="2200"/>
              <a:t>Introducción</a:t>
            </a:r>
          </a:p>
          <a:p>
            <a:pPr lvl="1">
              <a:buBlip>
                <a:blip r:embed="rId3"/>
              </a:buBlip>
            </a:pPr>
            <a:r>
              <a:rPr lang="es-ES_tradnl" sz="2200"/>
              <a:t>Aprendizaje no supervisado</a:t>
            </a:r>
          </a:p>
          <a:p>
            <a:pPr lvl="2">
              <a:buBlip>
                <a:blip r:embed="rId3"/>
              </a:buBlip>
            </a:pPr>
            <a:r>
              <a:rPr lang="es-ES_tradnl"/>
              <a:t>Algoritmos de agrupamiento jerárquico</a:t>
            </a:r>
          </a:p>
          <a:p>
            <a:pPr lvl="2">
              <a:buBlip>
                <a:blip r:embed="rId3"/>
              </a:buBlip>
            </a:pPr>
            <a:r>
              <a:rPr lang="es-ES_tradnl"/>
              <a:t>Algoritmos de agrupamiento basado en particiones</a:t>
            </a:r>
          </a:p>
          <a:p>
            <a:pPr lvl="1">
              <a:buBlip>
                <a:blip r:embed="rId3"/>
              </a:buBlip>
            </a:pPr>
            <a:r>
              <a:rPr lang="es-ES_tradnl" sz="2200"/>
              <a:t>Aprendizaje supervisado</a:t>
            </a:r>
          </a:p>
          <a:p>
            <a:pPr lvl="2">
              <a:buBlip>
                <a:blip r:embed="rId3"/>
              </a:buBlip>
            </a:pPr>
            <a:r>
              <a:rPr lang="es-ES_tradnl"/>
              <a:t>k vecinos más cercanos</a:t>
            </a:r>
          </a:p>
          <a:p>
            <a:pPr lvl="2">
              <a:buBlip>
                <a:blip r:embed="rId3"/>
              </a:buBlip>
            </a:pPr>
            <a:r>
              <a:rPr lang="es-ES_tradnl"/>
              <a:t>Árboles de decisión</a:t>
            </a:r>
          </a:p>
          <a:p>
            <a:pPr lvl="2">
              <a:buBlip>
                <a:blip r:embed="rId3"/>
              </a:buBlip>
            </a:pPr>
            <a:r>
              <a:rPr lang="es-ES_tradnl" err="1"/>
              <a:t>Perceptrón</a:t>
            </a:r>
            <a:r>
              <a:rPr lang="es-ES_tradnl"/>
              <a:t> multicapa</a:t>
            </a:r>
          </a:p>
          <a:p>
            <a:pPr marL="914400" lvl="2" indent="0" eaLnBrk="1" hangingPunct="1">
              <a:buNone/>
            </a:pPr>
            <a:endParaRPr lang="es-ES"/>
          </a:p>
          <a:p>
            <a:pPr lvl="1" eaLnBrk="1" hangingPunct="1"/>
            <a:endParaRPr lang="es-ES">
              <a:solidFill>
                <a:srgbClr val="6600CC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Introducción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832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F7A42-9145-B875-4F02-91F04E28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¿Qué entendemos por aprendizaje?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5E936-D38F-E5EF-495B-25FD6D02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400" dirty="0">
                <a:latin typeface="Arial Narrow" pitchFamily="34" charset="0"/>
              </a:rPr>
              <a:t>No se puede hablar de inteligencia sin aprendizaje</a:t>
            </a:r>
            <a:endParaRPr lang="es-ES_tradnl" sz="2400" dirty="0">
              <a:latin typeface="Arial Narrow" pitchFamily="34" charset="0"/>
              <a:cs typeface="Times New Roman" pitchFamily="18" charset="0"/>
            </a:endParaRPr>
          </a:p>
          <a:p>
            <a:endParaRPr lang="es-ES_tradnl" sz="2400" dirty="0">
              <a:latin typeface="Arial Narrow" pitchFamily="34" charset="0"/>
              <a:cs typeface="Times New Roman" pitchFamily="18" charset="0"/>
            </a:endParaRPr>
          </a:p>
          <a:p>
            <a:r>
              <a:rPr lang="es-ES_tradnl" sz="2400" dirty="0">
                <a:latin typeface="Arial Narrow" pitchFamily="34" charset="0"/>
                <a:cs typeface="Times New Roman" pitchFamily="18" charset="0"/>
              </a:rPr>
              <a:t>La </a:t>
            </a:r>
            <a:r>
              <a:rPr lang="es-ES_tradnl" sz="2400" b="1" dirty="0">
                <a:latin typeface="Arial Narrow" pitchFamily="34" charset="0"/>
                <a:cs typeface="Times New Roman" pitchFamily="18" charset="0"/>
              </a:rPr>
              <a:t>capacidad de aprendizaje</a:t>
            </a:r>
            <a:r>
              <a:rPr lang="es-ES_tradnl" sz="2400" dirty="0">
                <a:latin typeface="Arial Narrow" pitchFamily="34" charset="0"/>
                <a:cs typeface="Times New Roman" pitchFamily="18" charset="0"/>
              </a:rPr>
              <a:t> permite realizar nuevas tareas que previamente no podían realizarse, o bien realizar mejor (más rápidamente, con mayor exactitud, etc.) las que ya se realizaban, como resultado de los cambios producidos en el sistema al resolver problemas anteriores.</a:t>
            </a:r>
          </a:p>
          <a:p>
            <a:pPr>
              <a:buNone/>
            </a:pPr>
            <a:r>
              <a:rPr lang="es-ES_tradnl" dirty="0">
                <a:latin typeface="Arial Narrow" pitchFamily="34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s-ES_tradnl" dirty="0">
                <a:latin typeface="Arial Narrow" pitchFamily="34" charset="0"/>
                <a:cs typeface="Times New Roman" pitchFamily="18" charset="0"/>
              </a:rPr>
              <a:t> </a:t>
            </a:r>
          </a:p>
          <a:p>
            <a:pPr algn="ctr">
              <a:buNone/>
            </a:pPr>
            <a:r>
              <a:rPr lang="es-ES" b="1" i="1" dirty="0">
                <a:cs typeface="Times New Roman" pitchFamily="18" charset="0"/>
              </a:rPr>
              <a:t>La capacidad de aprendizaje no puede añadirse a posteriori.</a:t>
            </a:r>
          </a:p>
          <a:p>
            <a:pPr>
              <a:buNone/>
            </a:pPr>
            <a:r>
              <a:rPr lang="es-ES_tradnl" dirty="0">
                <a:latin typeface="Arial Narrow" pitchFamily="34" charset="0"/>
                <a:cs typeface="Times New Roman" pitchFamily="18" charset="0"/>
              </a:rPr>
              <a:t> </a:t>
            </a:r>
          </a:p>
          <a:p>
            <a:pPr algn="just"/>
            <a:r>
              <a:rPr lang="es-ES" dirty="0"/>
              <a:t>Aprendizaje</a:t>
            </a:r>
          </a:p>
          <a:p>
            <a:pPr lvl="1" algn="just"/>
            <a:r>
              <a:rPr lang="ja-JP" altLang="es-ES" dirty="0"/>
              <a:t>“</a:t>
            </a:r>
            <a:r>
              <a:rPr lang="es-ES" altLang="ja-JP" dirty="0"/>
              <a:t>El acto, proceso o experiencia de adquirir conocimiento o aptitudes</a:t>
            </a:r>
            <a:r>
              <a:rPr lang="ja-JP" altLang="es-ES" dirty="0"/>
              <a:t>”</a:t>
            </a:r>
            <a:r>
              <a:rPr lang="es-ES" altLang="ja-JP" dirty="0"/>
              <a:t> 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7D150-4621-173E-BA59-3EBA4E5F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406E9E-ECEA-9116-ACDB-93FCCF80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22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Aprendizaje Automático </a:t>
            </a:r>
            <a:r>
              <a:rPr lang="es-ES" i="1"/>
              <a:t>(machine learning)</a:t>
            </a:r>
            <a:r>
              <a:rPr lang="es-ES"/>
              <a:t> 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0472" y="981075"/>
            <a:ext cx="9433048" cy="5570756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La </a:t>
            </a:r>
            <a:r>
              <a:rPr lang="es-ES" b="1" dirty="0"/>
              <a:t>IA simbólica</a:t>
            </a:r>
            <a:r>
              <a:rPr lang="es-ES" dirty="0"/>
              <a:t> trata con representaciones simbólicas de alto nivel (cercanas al entendimiento humano). Adecuada para:</a:t>
            </a:r>
          </a:p>
          <a:p>
            <a:pPr lvl="1" algn="just"/>
            <a:r>
              <a:rPr lang="es-ES" dirty="0"/>
              <a:t>Representar conocimiento humano y razonar con él</a:t>
            </a:r>
          </a:p>
          <a:p>
            <a:pPr lvl="1" algn="just"/>
            <a:r>
              <a:rPr lang="es-ES" dirty="0"/>
              <a:t>Resolver problemas bien-definidos o de índole lógica</a:t>
            </a:r>
          </a:p>
          <a:p>
            <a:pPr algn="just"/>
            <a:r>
              <a:rPr lang="es-ES" altLang="ja-JP" dirty="0"/>
              <a:t>La </a:t>
            </a:r>
            <a:r>
              <a:rPr lang="es-ES" altLang="ja-JP" b="1" dirty="0"/>
              <a:t>IA </a:t>
            </a:r>
            <a:r>
              <a:rPr lang="es-ES" altLang="ja-JP" b="1" dirty="0" err="1"/>
              <a:t>subsimbólica</a:t>
            </a:r>
            <a:r>
              <a:rPr lang="es-ES" altLang="ja-JP" b="1" dirty="0"/>
              <a:t> </a:t>
            </a:r>
            <a:r>
              <a:rPr lang="es-ES" altLang="ja-JP" dirty="0"/>
              <a:t>es capaz de tratar con representaciones cercanas al problema y extraer conocimiento de ellas</a:t>
            </a:r>
            <a:endParaRPr lang="es-ES" dirty="0"/>
          </a:p>
          <a:p>
            <a:pPr algn="just"/>
            <a:r>
              <a:rPr lang="es-ES" dirty="0"/>
              <a:t>El aprendizaje automático ha experimentado una explosión en su desarrollo desde la década de los 90 gracias a aproximaciones </a:t>
            </a:r>
            <a:r>
              <a:rPr lang="es-ES" dirty="0" err="1"/>
              <a:t>subsimbólicas</a:t>
            </a:r>
            <a:r>
              <a:rPr lang="es-ES" dirty="0"/>
              <a:t> que se benefician de:</a:t>
            </a:r>
            <a:endParaRPr lang="en-CA" dirty="0"/>
          </a:p>
          <a:p>
            <a:pPr lvl="1" algn="just"/>
            <a:r>
              <a:rPr lang="es-ES" dirty="0"/>
              <a:t>La abundancia de datos almacenados</a:t>
            </a:r>
          </a:p>
          <a:p>
            <a:pPr lvl="1" algn="just"/>
            <a:r>
              <a:rPr lang="es-ES" dirty="0"/>
              <a:t>El aumento en la capacidad de cálculo de los ordenadores</a:t>
            </a:r>
          </a:p>
          <a:p>
            <a:pPr lvl="1" algn="just"/>
            <a:endParaRPr lang="es-ES" dirty="0"/>
          </a:p>
          <a:p>
            <a:pPr marL="0" indent="0" algn="just">
              <a:buNone/>
            </a:pPr>
            <a:endParaRPr lang="en-CA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5</a:t>
            </a:fld>
            <a:endParaRPr lang="es-ES"/>
          </a:p>
        </p:txBody>
      </p:sp>
    </p:spTree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Aprendizaje Automático </a:t>
            </a:r>
            <a:r>
              <a:rPr lang="es-ES" i="1"/>
              <a:t>(machine learning)</a:t>
            </a:r>
            <a:r>
              <a:rPr lang="es-ES"/>
              <a:t>  e IA </a:t>
            </a:r>
            <a:r>
              <a:rPr lang="es-ES" err="1"/>
              <a:t>subsimbólica</a:t>
            </a:r>
            <a:endParaRPr lang="es-ES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0472" y="981075"/>
            <a:ext cx="9433048" cy="5570756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CA" err="1"/>
              <a:t>En</a:t>
            </a:r>
            <a:r>
              <a:rPr lang="en-CA"/>
              <a:t> el </a:t>
            </a:r>
            <a:r>
              <a:rPr lang="en-CA" err="1"/>
              <a:t>aprendizaje</a:t>
            </a:r>
            <a:r>
              <a:rPr lang="en-CA"/>
              <a:t> </a:t>
            </a:r>
            <a:r>
              <a:rPr lang="en-CA" err="1"/>
              <a:t>automático</a:t>
            </a:r>
            <a:r>
              <a:rPr lang="en-CA"/>
              <a:t>, </a:t>
            </a:r>
            <a:r>
              <a:rPr lang="en-CA" err="1"/>
              <a:t>mediante</a:t>
            </a:r>
            <a:r>
              <a:rPr lang="en-CA"/>
              <a:t> </a:t>
            </a:r>
            <a:r>
              <a:rPr lang="en-CA" err="1"/>
              <a:t>algoritmos</a:t>
            </a:r>
            <a:r>
              <a:rPr lang="en-CA"/>
              <a:t> de </a:t>
            </a:r>
            <a:r>
              <a:rPr lang="en-CA" err="1"/>
              <a:t>aprendizaje</a:t>
            </a:r>
            <a:r>
              <a:rPr lang="en-CA"/>
              <a:t> se </a:t>
            </a:r>
            <a:r>
              <a:rPr lang="en-CA" err="1"/>
              <a:t>extraen</a:t>
            </a:r>
            <a:r>
              <a:rPr lang="en-CA"/>
              <a:t> “</a:t>
            </a:r>
            <a:r>
              <a:rPr lang="en-CA" err="1"/>
              <a:t>reglas</a:t>
            </a:r>
            <a:r>
              <a:rPr lang="en-CA"/>
              <a:t>” o “</a:t>
            </a:r>
            <a:r>
              <a:rPr lang="en-CA" err="1"/>
              <a:t>patrones</a:t>
            </a:r>
            <a:r>
              <a:rPr lang="en-CA"/>
              <a:t>” de </a:t>
            </a:r>
            <a:r>
              <a:rPr lang="en-CA" err="1"/>
              <a:t>los</a:t>
            </a:r>
            <a:r>
              <a:rPr lang="en-CA"/>
              <a:t> </a:t>
            </a:r>
            <a:r>
              <a:rPr lang="en-CA" err="1"/>
              <a:t>datos</a:t>
            </a:r>
            <a:r>
              <a:rPr lang="en-CA"/>
              <a:t>.</a:t>
            </a:r>
          </a:p>
          <a:p>
            <a:pPr algn="just" eaLnBrk="1" hangingPunct="1"/>
            <a:r>
              <a:rPr lang="en-CA"/>
              <a:t>Las </a:t>
            </a:r>
            <a:r>
              <a:rPr lang="en-CA" err="1"/>
              <a:t>aproximaciones</a:t>
            </a:r>
            <a:r>
              <a:rPr lang="en-CA"/>
              <a:t> de </a:t>
            </a:r>
            <a:r>
              <a:rPr lang="en-CA" err="1"/>
              <a:t>aprendizaje</a:t>
            </a:r>
            <a:r>
              <a:rPr lang="en-CA"/>
              <a:t> </a:t>
            </a:r>
            <a:r>
              <a:rPr lang="en-CA" err="1"/>
              <a:t>subsimbólico</a:t>
            </a:r>
            <a:r>
              <a:rPr lang="en-CA"/>
              <a:t> </a:t>
            </a:r>
            <a:r>
              <a:rPr lang="en-CA" err="1"/>
              <a:t>proporcionan</a:t>
            </a:r>
            <a:endParaRPr lang="en-CA"/>
          </a:p>
          <a:p>
            <a:pPr lvl="1" algn="just"/>
            <a:r>
              <a:rPr lang="en-CA"/>
              <a:t>Mayor </a:t>
            </a:r>
            <a:r>
              <a:rPr lang="en-CA" err="1"/>
              <a:t>robustez</a:t>
            </a:r>
            <a:r>
              <a:rPr lang="en-CA"/>
              <a:t> </a:t>
            </a:r>
            <a:r>
              <a:rPr lang="en-CA" err="1"/>
              <a:t>frente</a:t>
            </a:r>
            <a:r>
              <a:rPr lang="en-CA"/>
              <a:t> al </a:t>
            </a:r>
            <a:r>
              <a:rPr lang="en-CA" err="1"/>
              <a:t>ruido</a:t>
            </a:r>
            <a:endParaRPr lang="en-CA"/>
          </a:p>
          <a:p>
            <a:pPr lvl="1" algn="just"/>
            <a:r>
              <a:rPr lang="en-CA"/>
              <a:t>Mayor </a:t>
            </a:r>
            <a:r>
              <a:rPr lang="en-CA" err="1"/>
              <a:t>capacidad</a:t>
            </a:r>
            <a:r>
              <a:rPr lang="en-CA"/>
              <a:t> de </a:t>
            </a:r>
            <a:r>
              <a:rPr lang="en-CA" err="1"/>
              <a:t>escalamiento</a:t>
            </a:r>
            <a:r>
              <a:rPr lang="en-CA"/>
              <a:t> (</a:t>
            </a:r>
            <a:r>
              <a:rPr lang="en-CA" err="1"/>
              <a:t>nuevos</a:t>
            </a:r>
            <a:r>
              <a:rPr lang="en-CA"/>
              <a:t> </a:t>
            </a:r>
            <a:r>
              <a:rPr lang="en-CA" err="1"/>
              <a:t>ejemplos</a:t>
            </a:r>
            <a:r>
              <a:rPr lang="en-CA"/>
              <a:t> o </a:t>
            </a:r>
            <a:r>
              <a:rPr lang="en-CA" err="1"/>
              <a:t>nuevas</a:t>
            </a:r>
            <a:r>
              <a:rPr lang="en-CA"/>
              <a:t> variables)</a:t>
            </a:r>
          </a:p>
          <a:p>
            <a:pPr lvl="1" algn="just"/>
            <a:r>
              <a:rPr lang="en-CA"/>
              <a:t>Mayor </a:t>
            </a:r>
            <a:r>
              <a:rPr lang="en-CA" err="1"/>
              <a:t>capacidad</a:t>
            </a:r>
            <a:r>
              <a:rPr lang="en-CA"/>
              <a:t> para </a:t>
            </a:r>
            <a:r>
              <a:rPr lang="en-CA" err="1"/>
              <a:t>trabajar</a:t>
            </a:r>
            <a:r>
              <a:rPr lang="en-CA"/>
              <a:t> con </a:t>
            </a:r>
            <a:r>
              <a:rPr lang="en-CA" err="1"/>
              <a:t>cantidades</a:t>
            </a:r>
            <a:r>
              <a:rPr lang="en-CA"/>
              <a:t> </a:t>
            </a:r>
            <a:r>
              <a:rPr lang="en-CA" err="1"/>
              <a:t>ingentes</a:t>
            </a:r>
            <a:r>
              <a:rPr lang="en-CA"/>
              <a:t> de </a:t>
            </a:r>
            <a:r>
              <a:rPr lang="en-CA" err="1"/>
              <a:t>datos</a:t>
            </a:r>
            <a:endParaRPr lang="en-CA"/>
          </a:p>
          <a:p>
            <a:pPr lvl="1" algn="just"/>
            <a:r>
              <a:rPr lang="en-CA" err="1"/>
              <a:t>Menor</a:t>
            </a:r>
            <a:r>
              <a:rPr lang="en-CA"/>
              <a:t> </a:t>
            </a:r>
            <a:r>
              <a:rPr lang="en-CA" err="1"/>
              <a:t>dependencia</a:t>
            </a:r>
            <a:r>
              <a:rPr lang="en-CA"/>
              <a:t> del </a:t>
            </a:r>
            <a:r>
              <a:rPr lang="en-CA" err="1"/>
              <a:t>experto</a:t>
            </a:r>
            <a:endParaRPr lang="en-CA"/>
          </a:p>
          <a:p>
            <a:pPr lvl="2" algn="just"/>
            <a:r>
              <a:rPr lang="en-CA" err="1"/>
              <a:t>Éste</a:t>
            </a:r>
            <a:r>
              <a:rPr lang="en-CA"/>
              <a:t> </a:t>
            </a:r>
            <a:r>
              <a:rPr lang="en-CA" err="1"/>
              <a:t>puede</a:t>
            </a:r>
            <a:r>
              <a:rPr lang="en-CA"/>
              <a:t> </a:t>
            </a:r>
            <a:r>
              <a:rPr lang="en-CA" err="1"/>
              <a:t>ayudar</a:t>
            </a:r>
            <a:r>
              <a:rPr lang="en-CA"/>
              <a:t> a la </a:t>
            </a:r>
            <a:r>
              <a:rPr lang="en-CA" err="1"/>
              <a:t>selección</a:t>
            </a:r>
            <a:r>
              <a:rPr lang="en-CA"/>
              <a:t> de variables o </a:t>
            </a:r>
            <a:r>
              <a:rPr lang="en-CA" err="1"/>
              <a:t>formas</a:t>
            </a:r>
            <a:r>
              <a:rPr lang="en-CA"/>
              <a:t> de </a:t>
            </a:r>
            <a:r>
              <a:rPr lang="en-CA" err="1"/>
              <a:t>representación</a:t>
            </a:r>
            <a:r>
              <a:rPr lang="en-CA"/>
              <a:t> </a:t>
            </a:r>
            <a:r>
              <a:rPr lang="en-CA" err="1"/>
              <a:t>relevantes</a:t>
            </a:r>
            <a:r>
              <a:rPr lang="en-CA"/>
              <a:t> y a la </a:t>
            </a:r>
            <a:r>
              <a:rPr lang="en-CA" err="1"/>
              <a:t>interpretación</a:t>
            </a:r>
            <a:r>
              <a:rPr lang="en-CA"/>
              <a:t> de </a:t>
            </a:r>
            <a:r>
              <a:rPr lang="en-CA" err="1"/>
              <a:t>los</a:t>
            </a:r>
            <a:r>
              <a:rPr lang="en-CA"/>
              <a:t> </a:t>
            </a:r>
            <a:r>
              <a:rPr lang="en-CA" err="1"/>
              <a:t>resultados</a:t>
            </a:r>
            <a:endParaRPr lang="en-CA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170724"/>
      </p:ext>
    </p:extLst>
  </p:cSld>
  <p:clrMapOvr>
    <a:masterClrMapping/>
  </p:clrMapOvr>
  <p:transition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Tipos de Aprendizaje</a:t>
            </a:r>
            <a:endParaRPr lang="es-E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471" y="765176"/>
            <a:ext cx="9511193" cy="4544321"/>
          </a:xfrm>
        </p:spPr>
        <p:txBody>
          <a:bodyPr>
            <a:normAutofit/>
          </a:bodyPr>
          <a:lstStyle/>
          <a:p>
            <a:pPr algn="just"/>
            <a:r>
              <a:rPr lang="en-CA"/>
              <a:t>La IA </a:t>
            </a:r>
            <a:r>
              <a:rPr lang="en-CA" err="1"/>
              <a:t>subsimbólica</a:t>
            </a:r>
            <a:r>
              <a:rPr lang="en-CA"/>
              <a:t> </a:t>
            </a:r>
            <a:r>
              <a:rPr lang="en-CA" err="1"/>
              <a:t>está</a:t>
            </a:r>
            <a:r>
              <a:rPr lang="en-CA"/>
              <a:t> </a:t>
            </a:r>
            <a:r>
              <a:rPr lang="en-CA" err="1"/>
              <a:t>relacionada</a:t>
            </a:r>
            <a:r>
              <a:rPr lang="en-CA"/>
              <a:t> con la </a:t>
            </a:r>
            <a:r>
              <a:rPr lang="en-CA" err="1"/>
              <a:t>estadística</a:t>
            </a:r>
            <a:endParaRPr lang="en-CA"/>
          </a:p>
          <a:p>
            <a:pPr lvl="1" algn="just"/>
            <a:r>
              <a:rPr lang="en-CA"/>
              <a:t>Sin embargo, la </a:t>
            </a:r>
            <a:r>
              <a:rPr lang="en-CA" err="1"/>
              <a:t>estadística</a:t>
            </a:r>
            <a:r>
              <a:rPr lang="en-CA"/>
              <a:t> </a:t>
            </a:r>
            <a:r>
              <a:rPr lang="en-CA" err="1"/>
              <a:t>requiere</a:t>
            </a:r>
            <a:r>
              <a:rPr lang="en-CA"/>
              <a:t> que se </a:t>
            </a:r>
            <a:r>
              <a:rPr lang="en-CA" err="1"/>
              <a:t>cumplan</a:t>
            </a:r>
            <a:r>
              <a:rPr lang="en-CA"/>
              <a:t> </a:t>
            </a:r>
            <a:r>
              <a:rPr lang="en-CA" err="1"/>
              <a:t>hipótesis</a:t>
            </a:r>
            <a:r>
              <a:rPr lang="en-CA"/>
              <a:t> y </a:t>
            </a:r>
            <a:r>
              <a:rPr lang="en-CA" err="1"/>
              <a:t>sigue</a:t>
            </a:r>
            <a:r>
              <a:rPr lang="en-CA"/>
              <a:t> </a:t>
            </a:r>
            <a:r>
              <a:rPr lang="en-CA" err="1"/>
              <a:t>una</a:t>
            </a:r>
            <a:r>
              <a:rPr lang="en-CA"/>
              <a:t> </a:t>
            </a:r>
            <a:r>
              <a:rPr lang="en-CA" err="1"/>
              <a:t>aproximación</a:t>
            </a:r>
            <a:r>
              <a:rPr lang="en-CA"/>
              <a:t> </a:t>
            </a:r>
            <a:r>
              <a:rPr lang="en-CA" err="1"/>
              <a:t>más</a:t>
            </a:r>
            <a:r>
              <a:rPr lang="en-CA"/>
              <a:t> “formal”</a:t>
            </a:r>
          </a:p>
          <a:p>
            <a:pPr lvl="1" algn="just"/>
            <a:r>
              <a:rPr lang="en-CA" err="1"/>
              <a:t>Mientras</a:t>
            </a:r>
            <a:r>
              <a:rPr lang="en-CA"/>
              <a:t> que la IA </a:t>
            </a:r>
            <a:r>
              <a:rPr lang="en-CA" err="1"/>
              <a:t>subsimbólica</a:t>
            </a:r>
            <a:r>
              <a:rPr lang="en-CA"/>
              <a:t> </a:t>
            </a:r>
            <a:r>
              <a:rPr lang="en-CA" err="1"/>
              <a:t>sigue</a:t>
            </a:r>
            <a:r>
              <a:rPr lang="en-CA"/>
              <a:t> </a:t>
            </a:r>
            <a:r>
              <a:rPr lang="en-CA" err="1"/>
              <a:t>una</a:t>
            </a:r>
            <a:r>
              <a:rPr lang="en-CA"/>
              <a:t> </a:t>
            </a:r>
            <a:r>
              <a:rPr lang="en-CA" err="1"/>
              <a:t>aproximación</a:t>
            </a:r>
            <a:r>
              <a:rPr lang="en-CA"/>
              <a:t> </a:t>
            </a:r>
            <a:r>
              <a:rPr lang="en-CA" err="1"/>
              <a:t>más</a:t>
            </a:r>
            <a:r>
              <a:rPr lang="en-CA"/>
              <a:t> “</a:t>
            </a:r>
            <a:r>
              <a:rPr lang="en-CA" err="1"/>
              <a:t>ingenieril</a:t>
            </a:r>
            <a:r>
              <a:rPr lang="en-CA"/>
              <a:t>”</a:t>
            </a:r>
          </a:p>
          <a:p>
            <a:pPr eaLnBrk="1" hangingPunct="1"/>
            <a:endParaRPr lang="es-ES_tradnl"/>
          </a:p>
          <a:p>
            <a:pPr eaLnBrk="1" hangingPunct="1"/>
            <a:r>
              <a:rPr lang="es-ES_tradnl"/>
              <a:t>Aunque existen diferentes formas de clasificar el aprendizaje nos centraremos en el aprendizaje según el grado de realimentación:</a:t>
            </a:r>
            <a:endParaRPr lang="es-ES_tradnl" sz="2000">
              <a:solidFill>
                <a:schemeClr val="accent2"/>
              </a:solidFill>
            </a:endParaRPr>
          </a:p>
          <a:p>
            <a:pPr lvl="1" eaLnBrk="1" hangingPunct="1"/>
            <a:r>
              <a:rPr lang="es-ES" sz="1800"/>
              <a:t>Supervisado, </a:t>
            </a:r>
          </a:p>
          <a:p>
            <a:pPr lvl="1" eaLnBrk="1" hangingPunct="1"/>
            <a:r>
              <a:rPr lang="es-ES" sz="1800"/>
              <a:t>No supervisado </a:t>
            </a:r>
          </a:p>
          <a:p>
            <a:pPr lvl="1" eaLnBrk="1" hangingPunct="1"/>
            <a:r>
              <a:rPr lang="es-ES" sz="1800"/>
              <a:t>Por refuerzo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7</a:t>
            </a:fld>
            <a:endParaRPr lang="es-ES"/>
          </a:p>
        </p:txBody>
      </p:sp>
    </p:spTree>
  </p:cSld>
  <p:clrMapOvr>
    <a:masterClrMapping/>
  </p:clrMapOvr>
  <p:transition>
    <p:cover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sz="2400"/>
              <a:t>Tipos de aprendizaje: </a:t>
            </a:r>
            <a:r>
              <a:rPr lang="es-ES" sz="2400"/>
              <a:t>según el grado de realimentación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727" y="981076"/>
            <a:ext cx="9439937" cy="4824188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dirty="0"/>
              <a:t> </a:t>
            </a:r>
            <a:r>
              <a:rPr lang="es-ES" sz="2000" dirty="0">
                <a:solidFill>
                  <a:schemeClr val="accent2"/>
                </a:solidFill>
              </a:rPr>
              <a:t>Aprendizaje supervisado</a:t>
            </a:r>
          </a:p>
          <a:p>
            <a:pPr lvl="1" eaLnBrk="1" hangingPunct="1"/>
            <a:r>
              <a:rPr lang="es-ES_tradnl" sz="1800" dirty="0"/>
              <a:t>Hay que suministrar al sistema ejemplos clasificados</a:t>
            </a:r>
          </a:p>
          <a:p>
            <a:pPr lvl="1" eaLnBrk="1" hangingPunct="1"/>
            <a:r>
              <a:rPr lang="es-ES_tradnl" sz="1800" dirty="0"/>
              <a:t>El objetivo es descubrir “reglas” de clasificación </a:t>
            </a:r>
          </a:p>
          <a:p>
            <a:pPr eaLnBrk="1" hangingPunct="1"/>
            <a:endParaRPr lang="es-ES" sz="2000" dirty="0">
              <a:solidFill>
                <a:schemeClr val="accent2"/>
              </a:solidFill>
            </a:endParaRPr>
          </a:p>
          <a:p>
            <a:pPr eaLnBrk="1" hangingPunct="1"/>
            <a:r>
              <a:rPr lang="es-ES" sz="2000" dirty="0">
                <a:solidFill>
                  <a:schemeClr val="accent2"/>
                </a:solidFill>
              </a:rPr>
              <a:t>Aprendizaje no supervisado o por descubrimiento</a:t>
            </a:r>
            <a:endParaRPr lang="es-ES_tradnl" sz="2000" dirty="0">
              <a:solidFill>
                <a:schemeClr val="accent2"/>
              </a:solidFill>
            </a:endParaRPr>
          </a:p>
          <a:p>
            <a:pPr lvl="1" eaLnBrk="1" hangingPunct="1"/>
            <a:r>
              <a:rPr lang="es-ES_tradnl" sz="1800" dirty="0"/>
              <a:t>No hay </a:t>
            </a:r>
            <a:r>
              <a:rPr lang="es-ES_tradnl" altLang="es-ES" sz="1800" dirty="0"/>
              <a:t>información sobre la clase a la que </a:t>
            </a:r>
            <a:r>
              <a:rPr lang="es-ES_tradnl" sz="1800" dirty="0"/>
              <a:t>pertenecen los ejemplos</a:t>
            </a:r>
          </a:p>
          <a:p>
            <a:pPr lvl="1" eaLnBrk="1" hangingPunct="1"/>
            <a:r>
              <a:rPr lang="es-ES_tradnl" sz="1800" dirty="0"/>
              <a:t>Objetivo: descubrir patrones en el conjunto de entrenamiento </a:t>
            </a:r>
            <a:br>
              <a:rPr lang="es-ES_tradnl" sz="1800" dirty="0"/>
            </a:br>
            <a:r>
              <a:rPr lang="es-ES_tradnl" sz="1800" dirty="0"/>
              <a:t>que permitan agrupar y diferenciar unos ejemplos de otros</a:t>
            </a:r>
          </a:p>
          <a:p>
            <a:pPr lvl="1" eaLnBrk="1" hangingPunct="1"/>
            <a:endParaRPr lang="es-ES_tradnl" sz="1800" dirty="0"/>
          </a:p>
          <a:p>
            <a:pPr eaLnBrk="1" hangingPunct="1"/>
            <a:r>
              <a:rPr lang="es-ES" sz="2000" dirty="0">
                <a:solidFill>
                  <a:schemeClr val="accent2"/>
                </a:solidFill>
              </a:rPr>
              <a:t>Aprendizaje por refuerzo</a:t>
            </a:r>
            <a:endParaRPr lang="es-ES_tradnl" sz="2000" dirty="0">
              <a:solidFill>
                <a:schemeClr val="accent2"/>
              </a:solidFill>
            </a:endParaRPr>
          </a:p>
          <a:p>
            <a:pPr lvl="1" eaLnBrk="1" hangingPunct="1"/>
            <a:r>
              <a:rPr lang="es-ES" sz="1800" dirty="0"/>
              <a:t>El sistema recibe algún tipo de recompensa (positiva o negativa) cada vez que produce una respuesta, ajustando su comportamiento en función de dicha recompensa</a:t>
            </a:r>
          </a:p>
          <a:p>
            <a:pPr lvl="1" eaLnBrk="1" hangingPunct="1"/>
            <a:r>
              <a:rPr lang="es-ES" sz="1800" dirty="0"/>
              <a:t>Típico sistema de aprendizaje robótico</a:t>
            </a:r>
          </a:p>
          <a:p>
            <a:pPr marL="457200" lvl="1" indent="0" eaLnBrk="1" hangingPunct="1">
              <a:buNone/>
            </a:pPr>
            <a:endParaRPr lang="es-ES" sz="1800" dirty="0"/>
          </a:p>
        </p:txBody>
      </p:sp>
      <p:grpSp>
        <p:nvGrpSpPr>
          <p:cNvPr id="16" name="Agrupar 15"/>
          <p:cNvGrpSpPr/>
          <p:nvPr/>
        </p:nvGrpSpPr>
        <p:grpSpPr>
          <a:xfrm>
            <a:off x="7545288" y="894392"/>
            <a:ext cx="1584176" cy="864096"/>
            <a:chOff x="4808984" y="5373216"/>
            <a:chExt cx="1584176" cy="864096"/>
          </a:xfrm>
        </p:grpSpPr>
        <p:sp>
          <p:nvSpPr>
            <p:cNvPr id="5" name="Rectángulo 4"/>
            <p:cNvSpPr/>
            <p:nvPr/>
          </p:nvSpPr>
          <p:spPr>
            <a:xfrm>
              <a:off x="4808984" y="5373216"/>
              <a:ext cx="1584176" cy="864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Elipse 3"/>
            <p:cNvSpPr/>
            <p:nvPr/>
          </p:nvSpPr>
          <p:spPr>
            <a:xfrm>
              <a:off x="4953000" y="5733256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Elipse 6"/>
            <p:cNvSpPr/>
            <p:nvPr/>
          </p:nvSpPr>
          <p:spPr>
            <a:xfrm>
              <a:off x="5241032" y="5589240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Elipse 7"/>
            <p:cNvSpPr/>
            <p:nvPr/>
          </p:nvSpPr>
          <p:spPr>
            <a:xfrm>
              <a:off x="5529064" y="5517232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Elipse 8"/>
            <p:cNvSpPr/>
            <p:nvPr/>
          </p:nvSpPr>
          <p:spPr>
            <a:xfrm>
              <a:off x="5889104" y="5589240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Elipse 9"/>
            <p:cNvSpPr/>
            <p:nvPr/>
          </p:nvSpPr>
          <p:spPr>
            <a:xfrm>
              <a:off x="6033120" y="5805264"/>
              <a:ext cx="144016" cy="144016"/>
            </a:xfrm>
            <a:prstGeom prst="ellipse">
              <a:avLst/>
            </a:prstGeom>
            <a:solidFill>
              <a:srgbClr val="EC010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Elipse 10"/>
            <p:cNvSpPr/>
            <p:nvPr/>
          </p:nvSpPr>
          <p:spPr>
            <a:xfrm>
              <a:off x="5601072" y="5733256"/>
              <a:ext cx="144016" cy="144016"/>
            </a:xfrm>
            <a:prstGeom prst="ellipse">
              <a:avLst/>
            </a:prstGeom>
            <a:solidFill>
              <a:srgbClr val="FF6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Elipse 11"/>
            <p:cNvSpPr/>
            <p:nvPr/>
          </p:nvSpPr>
          <p:spPr>
            <a:xfrm>
              <a:off x="5889104" y="5949280"/>
              <a:ext cx="144016" cy="144016"/>
            </a:xfrm>
            <a:prstGeom prst="ellipse">
              <a:avLst/>
            </a:prstGeom>
            <a:solidFill>
              <a:srgbClr val="EC010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Elipse 12"/>
            <p:cNvSpPr/>
            <p:nvPr/>
          </p:nvSpPr>
          <p:spPr>
            <a:xfrm>
              <a:off x="5105400" y="5885656"/>
              <a:ext cx="144016" cy="144016"/>
            </a:xfrm>
            <a:prstGeom prst="ellipse">
              <a:avLst/>
            </a:prstGeom>
            <a:solidFill>
              <a:srgbClr val="FF6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Elipse 13"/>
            <p:cNvSpPr/>
            <p:nvPr/>
          </p:nvSpPr>
          <p:spPr>
            <a:xfrm>
              <a:off x="5385048" y="5877272"/>
              <a:ext cx="144016" cy="144016"/>
            </a:xfrm>
            <a:prstGeom prst="ellipse">
              <a:avLst/>
            </a:prstGeom>
            <a:solidFill>
              <a:srgbClr val="FF6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Elipse 14"/>
            <p:cNvSpPr/>
            <p:nvPr/>
          </p:nvSpPr>
          <p:spPr>
            <a:xfrm>
              <a:off x="6105128" y="6021288"/>
              <a:ext cx="144016" cy="144016"/>
            </a:xfrm>
            <a:prstGeom prst="ellipse">
              <a:avLst/>
            </a:prstGeom>
            <a:solidFill>
              <a:srgbClr val="EC0109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7715527" y="2971047"/>
            <a:ext cx="1584176" cy="864096"/>
            <a:chOff x="4808984" y="5373216"/>
            <a:chExt cx="1584176" cy="864096"/>
          </a:xfrm>
        </p:grpSpPr>
        <p:sp>
          <p:nvSpPr>
            <p:cNvPr id="20" name="Rectángulo 19"/>
            <p:cNvSpPr/>
            <p:nvPr/>
          </p:nvSpPr>
          <p:spPr>
            <a:xfrm>
              <a:off x="4808984" y="5373216"/>
              <a:ext cx="1584176" cy="864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Elipse 20"/>
            <p:cNvSpPr/>
            <p:nvPr/>
          </p:nvSpPr>
          <p:spPr>
            <a:xfrm>
              <a:off x="4953000" y="5733256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Elipse 21"/>
            <p:cNvSpPr/>
            <p:nvPr/>
          </p:nvSpPr>
          <p:spPr>
            <a:xfrm>
              <a:off x="5241032" y="5589240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Elipse 22"/>
            <p:cNvSpPr/>
            <p:nvPr/>
          </p:nvSpPr>
          <p:spPr>
            <a:xfrm>
              <a:off x="5529064" y="5517232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Elipse 23"/>
            <p:cNvSpPr/>
            <p:nvPr/>
          </p:nvSpPr>
          <p:spPr>
            <a:xfrm>
              <a:off x="5889104" y="5589240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/>
            <p:cNvSpPr/>
            <p:nvPr/>
          </p:nvSpPr>
          <p:spPr>
            <a:xfrm>
              <a:off x="6033120" y="5805264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Elipse 25"/>
            <p:cNvSpPr/>
            <p:nvPr/>
          </p:nvSpPr>
          <p:spPr>
            <a:xfrm>
              <a:off x="5601072" y="5733256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Elipse 26"/>
            <p:cNvSpPr/>
            <p:nvPr/>
          </p:nvSpPr>
          <p:spPr>
            <a:xfrm>
              <a:off x="5889104" y="5949280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Elipse 27"/>
            <p:cNvSpPr/>
            <p:nvPr/>
          </p:nvSpPr>
          <p:spPr>
            <a:xfrm>
              <a:off x="5105400" y="5885656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Elipse 28"/>
            <p:cNvSpPr/>
            <p:nvPr/>
          </p:nvSpPr>
          <p:spPr>
            <a:xfrm>
              <a:off x="5385048" y="5877272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Elipse 29"/>
            <p:cNvSpPr/>
            <p:nvPr/>
          </p:nvSpPr>
          <p:spPr>
            <a:xfrm>
              <a:off x="6105128" y="602128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104" y="5047702"/>
            <a:ext cx="3384376" cy="1364667"/>
          </a:xfrm>
          <a:prstGeom prst="rect">
            <a:avLst/>
          </a:prstGeom>
        </p:spPr>
      </p:pic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17" name="Marcador de número de diapositiva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8</a:t>
            </a:fld>
            <a:endParaRPr lang="es-ES"/>
          </a:p>
        </p:txBody>
      </p:sp>
    </p:spTree>
  </p:cSld>
  <p:clrMapOvr>
    <a:masterClrMapping/>
  </p:clrMapOvr>
  <p:transition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representación de los individuos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Aprendizaje automático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433F-6FC9-4D8E-935C-0685DA937467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605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Representación de los individuos</a:t>
            </a:r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2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71727" y="819151"/>
                <a:ext cx="9439937" cy="5921621"/>
              </a:xfrm>
            </p:spPr>
            <p:txBody>
              <a:bodyPr>
                <a:normAutofit/>
              </a:bodyPr>
              <a:lstStyle/>
              <a:p>
                <a:r>
                  <a:rPr lang="es-ES_tradnl" sz="2000" dirty="0"/>
                  <a:t>En el aprendizaje supervisado y no supervisado partimos de datos que son un conjunto de descripciones de objetos </a:t>
                </a:r>
              </a:p>
              <a:p>
                <a:r>
                  <a:rPr lang="es-ES_tradnl" sz="2000" dirty="0"/>
                  <a:t>Tendremos un número de individuos o elementos (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sz="2000" dirty="0"/>
                  <a:t>) descrito por un conjunto de variables (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2000" dirty="0"/>
                  <a:t>)</a:t>
                </a:r>
              </a:p>
              <a:p>
                <a:pPr lvl="1"/>
                <a:r>
                  <a:rPr lang="es-ES_tradnl" sz="1800" dirty="0"/>
                  <a:t>Nuestros datos se representan en forma de </a:t>
                </a:r>
                <a:r>
                  <a:rPr lang="es-ES_tradnl" sz="1800" b="1" dirty="0"/>
                  <a:t>matriz </a:t>
                </a:r>
                <a14:m>
                  <m:oMath xmlns:m="http://schemas.openxmlformats.org/officeDocument/2006/math">
                    <m:r>
                      <a:rPr lang="es-ES" sz="1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18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s-ES_tradnl" sz="1800" b="1" dirty="0"/>
                  <a:t> </a:t>
                </a:r>
                <a:r>
                  <a:rPr lang="es-ES_tradnl" sz="1800" dirty="0"/>
                  <a:t>donde las filas son los individuos y las columnas las variables</a:t>
                </a:r>
              </a:p>
              <a:p>
                <a:pPr lvl="1"/>
                <a:r>
                  <a:rPr lang="es-ES_tradnl" sz="1800" dirty="0"/>
                  <a:t>Las variables pueden ser de diferente naturaleza</a:t>
                </a:r>
              </a:p>
              <a:p>
                <a:pPr lvl="2"/>
                <a:r>
                  <a:rPr lang="es-ES_tradnl" sz="1600" dirty="0"/>
                  <a:t>Cuantitativa: variables reales o enteras</a:t>
                </a:r>
              </a:p>
              <a:p>
                <a:pPr lvl="2"/>
                <a:r>
                  <a:rPr lang="es-ES_tradnl" sz="1600" dirty="0"/>
                  <a:t>Cualitativa: variables categóricas u ordinales (p.ej. grupos de edad) </a:t>
                </a:r>
              </a:p>
              <a:p>
                <a:pPr lvl="1"/>
                <a:r>
                  <a:rPr lang="es-ES_tradnl" sz="1800" dirty="0"/>
                  <a:t>Las variables son las dimensiones en las que representamos a los individuos</a:t>
                </a:r>
              </a:p>
              <a:p>
                <a:pPr lvl="2"/>
                <a:r>
                  <a:rPr lang="es-ES_tradnl" sz="1600" dirty="0"/>
                  <a:t>P.ej. si tenemos 3 variables cuantitativas nuestros individuos pueden considerarse como puntos en un espacio tridimensional</a:t>
                </a:r>
              </a:p>
              <a:p>
                <a:pPr marL="0" indent="0">
                  <a:buNone/>
                </a:pPr>
                <a:endParaRPr lang="es-ES_tradnl" sz="1800" dirty="0"/>
              </a:p>
              <a:p>
                <a:pPr lvl="1"/>
                <a:endParaRPr lang="es-ES_tradnl" dirty="0"/>
              </a:p>
              <a:p>
                <a:pPr lvl="1"/>
                <a:endParaRPr lang="es-ES_tradnl" dirty="0"/>
              </a:p>
              <a:p>
                <a:pPr lvl="1"/>
                <a:endParaRPr lang="es-ES_tradnl" sz="1800" dirty="0"/>
              </a:p>
              <a:p>
                <a:pPr eaLnBrk="1" hangingPunct="1"/>
                <a:endParaRPr lang="es-ES" dirty="0"/>
              </a:p>
            </p:txBody>
          </p:sp>
        </mc:Choice>
        <mc:Fallback xmlns="">
          <p:sp>
            <p:nvSpPr>
              <p:cNvPr id="552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1727" y="819151"/>
                <a:ext cx="9439937" cy="5921621"/>
              </a:xfrm>
              <a:blipFill>
                <a:blip r:embed="rId2"/>
                <a:stretch>
                  <a:fillRect t="-412" r="-2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10</a:t>
            </a:fld>
            <a:endParaRPr lang="es-ES"/>
          </a:p>
        </p:txBody>
      </p:sp>
      <p:grpSp>
        <p:nvGrpSpPr>
          <p:cNvPr id="8" name="Grupo 7"/>
          <p:cNvGrpSpPr/>
          <p:nvPr/>
        </p:nvGrpSpPr>
        <p:grpSpPr>
          <a:xfrm>
            <a:off x="1844581" y="4534720"/>
            <a:ext cx="2376264" cy="1805961"/>
            <a:chOff x="1856656" y="4509120"/>
            <a:chExt cx="2376264" cy="1805961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6656" y="4509120"/>
              <a:ext cx="2376264" cy="1805961"/>
            </a:xfrm>
            <a:prstGeom prst="rect">
              <a:avLst/>
            </a:prstGeom>
          </p:spPr>
        </p:pic>
        <p:sp>
          <p:nvSpPr>
            <p:cNvPr id="7" name="CuadroTexto 6"/>
            <p:cNvSpPr txBox="1"/>
            <p:nvPr/>
          </p:nvSpPr>
          <p:spPr>
            <a:xfrm>
              <a:off x="2118274" y="5165659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err="1"/>
                <a:t>ind</a:t>
              </a:r>
              <a:r>
                <a:rPr lang="es-ES" b="1"/>
                <a:t> 1</a:t>
              </a:r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2118274" y="5498881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err="1"/>
                <a:t>ind</a:t>
              </a:r>
              <a:r>
                <a:rPr lang="es-ES" b="1"/>
                <a:t> 2</a:t>
              </a:r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2272964" y="5854183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…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2849877" y="482813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1</a:t>
              </a:r>
              <a:endParaRPr lang="es-ES" b="1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3257958" y="482813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2</a:t>
              </a:r>
              <a:endParaRPr lang="es-ES" b="1"/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3666039" y="482813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3</a:t>
              </a:r>
              <a:endParaRPr lang="es-ES" b="1"/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5853995" y="4569491"/>
            <a:ext cx="1907317" cy="1883845"/>
            <a:chOff x="5334728" y="4381795"/>
            <a:chExt cx="1907317" cy="1883845"/>
          </a:xfrm>
        </p:grpSpPr>
        <p:cxnSp>
          <p:nvCxnSpPr>
            <p:cNvPr id="16" name="Conector recto 15"/>
            <p:cNvCxnSpPr/>
            <p:nvPr/>
          </p:nvCxnSpPr>
          <p:spPr>
            <a:xfrm>
              <a:off x="5952645" y="4509120"/>
              <a:ext cx="0" cy="9897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H="1" flipV="1">
              <a:off x="5933104" y="5488914"/>
              <a:ext cx="927720" cy="99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>
            <a:xfrm flipH="1">
              <a:off x="5529064" y="5488915"/>
              <a:ext cx="455013" cy="4603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/>
            <p:cNvSpPr txBox="1"/>
            <p:nvPr/>
          </p:nvSpPr>
          <p:spPr>
            <a:xfrm>
              <a:off x="6873033" y="5304248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1</a:t>
              </a:r>
              <a:endParaRPr lang="es-ES" b="1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5334728" y="5896308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2</a:t>
              </a:r>
              <a:endParaRPr lang="es-ES" b="1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6037723" y="438179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x</a:t>
              </a:r>
              <a:r>
                <a:rPr lang="es-ES" b="1" baseline="-25000"/>
                <a:t>3</a:t>
              </a:r>
              <a:endParaRPr lang="es-ES" b="1"/>
            </a:p>
          </p:txBody>
        </p:sp>
      </p:grpSp>
      <p:sp>
        <p:nvSpPr>
          <p:cNvPr id="22" name="Flecha derecha 21"/>
          <p:cNvSpPr/>
          <p:nvPr/>
        </p:nvSpPr>
        <p:spPr>
          <a:xfrm>
            <a:off x="4555675" y="5468258"/>
            <a:ext cx="1153529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0519312"/>
      </p:ext>
    </p:extLst>
  </p:cSld>
  <p:clrMapOvr>
    <a:masterClrMapping/>
  </p:clrMapOvr>
  <p:transition>
    <p:cover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Representación de los individuos en el espacio</a:t>
            </a:r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2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71727" y="819151"/>
                <a:ext cx="9439937" cy="5921621"/>
              </a:xfrm>
            </p:spPr>
            <p:txBody>
              <a:bodyPr>
                <a:normAutofit/>
              </a:bodyPr>
              <a:lstStyle/>
              <a:p>
                <a:r>
                  <a:rPr lang="es-ES_tradnl" sz="2000"/>
                  <a:t>Nuestros individuos son puntos representados en un espacio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sz="2000"/>
                  <a:t>-dimensional </a:t>
                </a:r>
              </a:p>
              <a:p>
                <a:pPr lvl="1"/>
                <a:r>
                  <a:rPr lang="es-ES_tradnl" sz="1800"/>
                  <a:t>De hecho, así los consideran muchos algoritmos de aprendizaje automático</a:t>
                </a:r>
              </a:p>
              <a:p>
                <a:r>
                  <a:rPr lang="es-ES_tradnl" sz="2000"/>
                  <a:t>Suele ser de gran ayuda poder inspeccionar los datos visualmente, para ello se suele utilizar el diagrama de dispersión (</a:t>
                </a:r>
                <a:r>
                  <a:rPr lang="es-ES_tradnl" sz="2000" i="1" err="1"/>
                  <a:t>scatter</a:t>
                </a:r>
                <a:r>
                  <a:rPr lang="es-ES_tradnl" sz="2000" i="1"/>
                  <a:t> </a:t>
                </a:r>
                <a:r>
                  <a:rPr lang="es-ES_tradnl" sz="2000" i="1" err="1"/>
                  <a:t>plot</a:t>
                </a:r>
                <a:r>
                  <a:rPr lang="es-ES_tradnl" sz="2000"/>
                  <a:t> en inglés)</a:t>
                </a:r>
              </a:p>
              <a:p>
                <a:pPr lvl="1"/>
                <a:r>
                  <a:rPr lang="es-ES_tradnl" sz="1800"/>
                  <a:t>Se usa habitualmente para ajustar una regresión lineal</a:t>
                </a:r>
              </a:p>
              <a:p>
                <a:endParaRPr lang="es-ES_tradnl"/>
              </a:p>
              <a:p>
                <a:endParaRPr lang="es-ES_tradnl"/>
              </a:p>
              <a:p>
                <a:endParaRPr lang="es-ES_tradnl"/>
              </a:p>
              <a:p>
                <a:endParaRPr lang="es-ES_tradnl"/>
              </a:p>
              <a:p>
                <a:endParaRPr lang="es-ES_tradnl"/>
              </a:p>
              <a:p>
                <a:endParaRPr lang="es-ES_tradnl"/>
              </a:p>
              <a:p>
                <a:endParaRPr lang="es-ES_tradnl"/>
              </a:p>
              <a:p>
                <a:r>
                  <a:rPr lang="es-ES_tradnl" sz="2000"/>
                  <a:t>Nosotros no podemos ver los datos en más de dos (o tres) dimensiones</a:t>
                </a:r>
              </a:p>
              <a:p>
                <a:pPr lvl="1"/>
                <a:r>
                  <a:rPr lang="es-ES_tradnl" sz="1800"/>
                  <a:t>Sin embargo, podemos mostrar las variables 2 a 2, si no son demasiadas</a:t>
                </a:r>
              </a:p>
              <a:p>
                <a:pPr lvl="1"/>
                <a:endParaRPr lang="es-ES_tradnl"/>
              </a:p>
              <a:p>
                <a:pPr lvl="1"/>
                <a:endParaRPr lang="es-ES_tradnl"/>
              </a:p>
              <a:p>
                <a:pPr lvl="1"/>
                <a:endParaRPr lang="es-ES_tradnl" sz="1800"/>
              </a:p>
              <a:p>
                <a:pPr eaLnBrk="1" hangingPunct="1"/>
                <a:endParaRPr lang="es-ES"/>
              </a:p>
            </p:txBody>
          </p:sp>
        </mc:Choice>
        <mc:Fallback xmlns="">
          <p:sp>
            <p:nvSpPr>
              <p:cNvPr id="552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1727" y="819151"/>
                <a:ext cx="9439937" cy="5921621"/>
              </a:xfrm>
              <a:blipFill rotWithShape="0">
                <a:blip r:embed="rId2"/>
                <a:stretch>
                  <a:fillRect t="-41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11</a:t>
            </a:fld>
            <a:endParaRPr lang="es-E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6" y="2636912"/>
            <a:ext cx="4440095" cy="267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56390"/>
      </p:ext>
    </p:extLst>
  </p:cSld>
  <p:clrMapOvr>
    <a:masterClrMapping/>
  </p:clrMapOvr>
  <p:transition>
    <p:cover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s-ES_tradnl"/>
              <a:t>Ejemplo de diagramas de dispersión</a:t>
            </a:r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12</a:t>
            </a:fld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5881" r="2506" b="2815"/>
          <a:stretch/>
        </p:blipFill>
        <p:spPr>
          <a:xfrm>
            <a:off x="344488" y="1392554"/>
            <a:ext cx="4785639" cy="462873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183170" y="1484784"/>
            <a:ext cx="4736977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Conjunto de </a:t>
            </a:r>
            <a:r>
              <a:rPr lang="en-US" sz="1700" b="1" dirty="0" err="1"/>
              <a:t>datos</a:t>
            </a:r>
            <a:r>
              <a:rPr lang="en-US" sz="1700" b="1" dirty="0"/>
              <a:t> de la </a:t>
            </a:r>
            <a:r>
              <a:rPr lang="en-US" sz="1700" b="1" dirty="0" err="1"/>
              <a:t>flor</a:t>
            </a:r>
            <a:r>
              <a:rPr lang="en-US" sz="1700" b="1" dirty="0"/>
              <a:t> del Iris</a:t>
            </a:r>
            <a:endParaRPr lang="en-US" sz="1700" dirty="0"/>
          </a:p>
          <a:p>
            <a:endParaRPr lang="en-US" sz="1700" dirty="0"/>
          </a:p>
          <a:p>
            <a:pPr>
              <a:spcAft>
                <a:spcPts val="600"/>
              </a:spcAft>
            </a:pPr>
            <a:r>
              <a:rPr lang="en-US" sz="1700" dirty="0"/>
              <a:t>Es un conjunto </a:t>
            </a:r>
            <a:r>
              <a:rPr lang="en-US" sz="1700" dirty="0" err="1"/>
              <a:t>clásico</a:t>
            </a:r>
            <a:r>
              <a:rPr lang="en-US" sz="1700" dirty="0"/>
              <a:t> de </a:t>
            </a:r>
            <a:r>
              <a:rPr lang="en-US" sz="1700" dirty="0" err="1"/>
              <a:t>aprendizaje</a:t>
            </a:r>
            <a:r>
              <a:rPr lang="en-US" sz="1700" dirty="0"/>
              <a:t> </a:t>
            </a:r>
            <a:r>
              <a:rPr lang="en-US" sz="1700" dirty="0" err="1"/>
              <a:t>estadístico</a:t>
            </a:r>
            <a:endParaRPr lang="en-US" sz="1700" dirty="0"/>
          </a:p>
          <a:p>
            <a:r>
              <a:rPr lang="en-US" sz="1700" dirty="0"/>
              <a:t>Variables de </a:t>
            </a:r>
            <a:r>
              <a:rPr lang="en-US" sz="1700" dirty="0" err="1"/>
              <a:t>representación</a:t>
            </a:r>
            <a:r>
              <a:rPr lang="en-US" sz="1700" dirty="0"/>
              <a:t>:</a:t>
            </a:r>
          </a:p>
          <a:p>
            <a:pPr marL="285750" indent="-192088">
              <a:buFont typeface="Arial" panose="020B0604020202020204" pitchFamily="34" charset="0"/>
              <a:buChar char="•"/>
            </a:pPr>
            <a:r>
              <a:rPr lang="en-US" sz="1700" dirty="0" err="1"/>
              <a:t>Longitud</a:t>
            </a:r>
            <a:r>
              <a:rPr lang="en-US" sz="1700" dirty="0"/>
              <a:t> del </a:t>
            </a:r>
            <a:r>
              <a:rPr lang="en-US" sz="1700" dirty="0" err="1"/>
              <a:t>sépalo</a:t>
            </a:r>
            <a:r>
              <a:rPr lang="en-US" sz="1700" dirty="0"/>
              <a:t> (</a:t>
            </a:r>
            <a:r>
              <a:rPr lang="en-US" sz="1700" dirty="0" err="1"/>
              <a:t>cuantitativa</a:t>
            </a:r>
            <a:r>
              <a:rPr lang="en-US" sz="1700" dirty="0"/>
              <a:t>)</a:t>
            </a:r>
          </a:p>
          <a:p>
            <a:pPr marL="285750" indent="-192088">
              <a:buFont typeface="Arial" panose="020B0604020202020204" pitchFamily="34" charset="0"/>
              <a:buChar char="•"/>
            </a:pPr>
            <a:r>
              <a:rPr lang="en-US" sz="1700" dirty="0"/>
              <a:t>Ancho del </a:t>
            </a:r>
            <a:r>
              <a:rPr lang="en-US" sz="1700" dirty="0" err="1"/>
              <a:t>sépalo</a:t>
            </a:r>
            <a:r>
              <a:rPr lang="en-US" sz="1700" dirty="0"/>
              <a:t> (</a:t>
            </a:r>
            <a:r>
              <a:rPr lang="en-US" sz="1700" dirty="0" err="1"/>
              <a:t>cuantitativa</a:t>
            </a:r>
            <a:r>
              <a:rPr lang="en-US" sz="1700" dirty="0"/>
              <a:t>)</a:t>
            </a:r>
          </a:p>
          <a:p>
            <a:pPr marL="285750" indent="-192088">
              <a:buFont typeface="Arial" panose="020B0604020202020204" pitchFamily="34" charset="0"/>
              <a:buChar char="•"/>
            </a:pPr>
            <a:r>
              <a:rPr lang="en-US" sz="1700" dirty="0" err="1"/>
              <a:t>Longitud</a:t>
            </a:r>
            <a:r>
              <a:rPr lang="en-US" sz="1700" dirty="0"/>
              <a:t> del </a:t>
            </a:r>
            <a:r>
              <a:rPr lang="en-US" sz="1700" dirty="0" err="1"/>
              <a:t>pétalo</a:t>
            </a:r>
            <a:r>
              <a:rPr lang="en-US" sz="1700" dirty="0"/>
              <a:t> (</a:t>
            </a:r>
            <a:r>
              <a:rPr lang="en-US" sz="1700" dirty="0" err="1"/>
              <a:t>cuantitativa</a:t>
            </a:r>
            <a:r>
              <a:rPr lang="en-US" sz="1700" dirty="0"/>
              <a:t>)</a:t>
            </a:r>
          </a:p>
          <a:p>
            <a:pPr marL="285750" indent="-192088">
              <a:buFont typeface="Arial" panose="020B0604020202020204" pitchFamily="34" charset="0"/>
              <a:buChar char="•"/>
            </a:pPr>
            <a:r>
              <a:rPr lang="en-US" sz="1700" dirty="0"/>
              <a:t>Ancho del </a:t>
            </a:r>
            <a:r>
              <a:rPr lang="en-US" sz="1700" dirty="0" err="1"/>
              <a:t>pétalo</a:t>
            </a:r>
            <a:r>
              <a:rPr lang="en-US" sz="1700" dirty="0"/>
              <a:t> (</a:t>
            </a:r>
            <a:r>
              <a:rPr lang="en-US" sz="1700" dirty="0" err="1"/>
              <a:t>cuantitativa</a:t>
            </a:r>
            <a:r>
              <a:rPr lang="en-US" sz="1700" dirty="0"/>
              <a:t>)</a:t>
            </a:r>
          </a:p>
          <a:p>
            <a:pPr marL="285750" indent="-1920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Especie</a:t>
            </a:r>
            <a:r>
              <a:rPr lang="en-US" sz="1700" dirty="0"/>
              <a:t> de Iris (</a:t>
            </a:r>
            <a:r>
              <a:rPr lang="en-US" sz="1700" dirty="0" err="1"/>
              <a:t>categórica</a:t>
            </a:r>
            <a:r>
              <a:rPr lang="en-US" sz="1700" dirty="0"/>
              <a:t>: </a:t>
            </a:r>
            <a:r>
              <a:rPr lang="pt-BR" sz="1700" dirty="0" err="1"/>
              <a:t>setosa</a:t>
            </a:r>
            <a:r>
              <a:rPr lang="pt-BR" sz="1700" dirty="0"/>
              <a:t>, </a:t>
            </a:r>
            <a:r>
              <a:rPr lang="pt-BR" sz="1700" dirty="0" err="1"/>
              <a:t>virginica</a:t>
            </a:r>
            <a:r>
              <a:rPr lang="pt-BR" sz="1700" dirty="0"/>
              <a:t>, versicolor)</a:t>
            </a:r>
            <a:endParaRPr lang="en-US" sz="1700" dirty="0"/>
          </a:p>
          <a:p>
            <a:r>
              <a:rPr lang="en-US" sz="1700" dirty="0" err="1"/>
              <a:t>Cada</a:t>
            </a:r>
            <a:r>
              <a:rPr lang="en-US" sz="1700" dirty="0"/>
              <a:t> </a:t>
            </a:r>
            <a:r>
              <a:rPr lang="en-US" sz="1700" dirty="0" err="1"/>
              <a:t>gráfico</a:t>
            </a:r>
            <a:r>
              <a:rPr lang="en-US" sz="1700" dirty="0"/>
              <a:t> </a:t>
            </a:r>
            <a:r>
              <a:rPr lang="en-US" sz="1700" dirty="0" err="1"/>
              <a:t>muestra</a:t>
            </a:r>
            <a:r>
              <a:rPr lang="en-US" sz="1700" dirty="0"/>
              <a:t> las variables </a:t>
            </a:r>
            <a:r>
              <a:rPr lang="en-US" sz="1700" dirty="0" err="1"/>
              <a:t>cuantitativas</a:t>
            </a:r>
            <a:r>
              <a:rPr lang="en-US" sz="1700" dirty="0"/>
              <a:t> dos a dos y la </a:t>
            </a:r>
            <a:r>
              <a:rPr lang="en-US" sz="1700" dirty="0" err="1"/>
              <a:t>especie</a:t>
            </a:r>
            <a:r>
              <a:rPr lang="en-US" sz="1700" dirty="0"/>
              <a:t> </a:t>
            </a:r>
            <a:r>
              <a:rPr lang="en-US" sz="1700" dirty="0" err="1"/>
              <a:t>usando</a:t>
            </a:r>
            <a:r>
              <a:rPr lang="en-US" sz="1700" dirty="0"/>
              <a:t> </a:t>
            </a:r>
            <a:r>
              <a:rPr lang="en-US" sz="1700" dirty="0" err="1"/>
              <a:t>el</a:t>
            </a:r>
            <a:r>
              <a:rPr lang="en-US" sz="1700" dirty="0"/>
              <a:t> color.</a:t>
            </a:r>
          </a:p>
          <a:p>
            <a:endParaRPr lang="en-US" sz="1700" dirty="0"/>
          </a:p>
          <a:p>
            <a:r>
              <a:rPr lang="en-US" sz="1700" dirty="0"/>
              <a:t>El color es la “</a:t>
            </a:r>
            <a:r>
              <a:rPr lang="en-US" sz="1700" dirty="0" err="1"/>
              <a:t>tercera</a:t>
            </a:r>
            <a:r>
              <a:rPr lang="en-US" sz="1700" dirty="0"/>
              <a:t>” </a:t>
            </a:r>
            <a:r>
              <a:rPr lang="en-US" sz="1700" dirty="0" err="1"/>
              <a:t>dimensión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cada</a:t>
            </a:r>
            <a:r>
              <a:rPr lang="en-US" sz="1700" dirty="0"/>
              <a:t> </a:t>
            </a:r>
            <a:r>
              <a:rPr lang="en-US" sz="1700" dirty="0" err="1"/>
              <a:t>gráfico</a:t>
            </a:r>
            <a:r>
              <a:rPr lang="en-US" sz="1700" dirty="0"/>
              <a:t> (</a:t>
            </a:r>
            <a:r>
              <a:rPr lang="en-US" sz="1700" b="1" dirty="0">
                <a:solidFill>
                  <a:srgbClr val="FF0000"/>
                </a:solidFill>
              </a:rPr>
              <a:t>rojo</a:t>
            </a:r>
            <a:r>
              <a:rPr lang="en-US" sz="1700" dirty="0">
                <a:solidFill>
                  <a:srgbClr val="FF0000"/>
                </a:solidFill>
              </a:rPr>
              <a:t> </a:t>
            </a:r>
            <a:r>
              <a:rPr lang="en-US" sz="1700" dirty="0" err="1"/>
              <a:t>setosa</a:t>
            </a:r>
            <a:r>
              <a:rPr lang="en-US" sz="1700" dirty="0"/>
              <a:t>, </a:t>
            </a:r>
            <a:r>
              <a:rPr lang="en-US" sz="1700" b="1" dirty="0" err="1">
                <a:solidFill>
                  <a:srgbClr val="0070C0"/>
                </a:solidFill>
              </a:rPr>
              <a:t>azul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/>
              <a:t>virginica y </a:t>
            </a:r>
            <a:r>
              <a:rPr lang="en-US" sz="1700" b="1" dirty="0" err="1">
                <a:solidFill>
                  <a:srgbClr val="00B050"/>
                </a:solidFill>
              </a:rPr>
              <a:t>verde</a:t>
            </a:r>
            <a:r>
              <a:rPr lang="en-US" sz="1700" dirty="0">
                <a:solidFill>
                  <a:srgbClr val="00B050"/>
                </a:solidFill>
              </a:rPr>
              <a:t> </a:t>
            </a:r>
            <a:r>
              <a:rPr lang="en-US" sz="1700" dirty="0"/>
              <a:t>versicolor)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38183430"/>
      </p:ext>
    </p:extLst>
  </p:cSld>
  <p:clrMapOvr>
    <a:masterClrMapping/>
  </p:clrMapOvr>
  <p:transition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/>
              <a:t>Importancia de la adecuada representación de los individuos</a:t>
            </a:r>
            <a:endParaRPr lang="es-E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727" y="819151"/>
            <a:ext cx="9439937" cy="5921621"/>
          </a:xfrm>
        </p:spPr>
        <p:txBody>
          <a:bodyPr>
            <a:normAutofit/>
          </a:bodyPr>
          <a:lstStyle/>
          <a:p>
            <a:r>
              <a:rPr lang="es-ES" sz="1900" dirty="0"/>
              <a:t>Los algoritmos de Aprendizaje Automático son sensibles a la forma en que los individuos de nuestro problema están representados.</a:t>
            </a:r>
          </a:p>
          <a:p>
            <a:pPr lvl="1"/>
            <a:r>
              <a:rPr lang="es-ES" sz="1700" dirty="0"/>
              <a:t>La representación puede contar con variables redundantes o no relevantes para el problema</a:t>
            </a:r>
          </a:p>
          <a:p>
            <a:pPr lvl="2"/>
            <a:r>
              <a:rPr lang="es-ES" sz="1500" dirty="0"/>
              <a:t>Sin embargo, no siempre se puede determinar a priori cuáles son</a:t>
            </a:r>
          </a:p>
          <a:p>
            <a:pPr lvl="1"/>
            <a:r>
              <a:rPr lang="es-ES" sz="1700" dirty="0"/>
              <a:t>Los datos se pueden ver afectados por ruido, errores de medida, valores perdidos</a:t>
            </a:r>
          </a:p>
          <a:p>
            <a:pPr eaLnBrk="1" hangingPunct="1"/>
            <a:r>
              <a:rPr lang="es-ES_tradnl" sz="1900" dirty="0"/>
              <a:t>Los algoritmos de aprendizaje automático trabajan bien cuando el conjunto de datos tiene numerosos individuos que cubren bien la casuística que se puede dar en la vida real</a:t>
            </a:r>
          </a:p>
          <a:p>
            <a:pPr lvl="1"/>
            <a:r>
              <a:rPr lang="es-ES_tradnl" sz="1700" dirty="0"/>
              <a:t>Un algoritmo puede aprender sobre individuos “parecidos” a los que ya conoce, pero si hay “regiones” del espacio de representación sin individuos, de ellas es complicado aprender nada</a:t>
            </a:r>
          </a:p>
          <a:p>
            <a:pPr lvl="2"/>
            <a:r>
              <a:rPr lang="es-ES_tradnl" sz="1500" dirty="0"/>
              <a:t>Si cuando el algoritmo está en producción se le presenta un individuo que no se parece a los que empleó en su aprendizaje, su comportamiento será imprevisible!!!</a:t>
            </a:r>
          </a:p>
          <a:p>
            <a:pPr lvl="1"/>
            <a:r>
              <a:rPr lang="es-ES_tradnl" sz="1700" dirty="0"/>
              <a:t>Esto es más relevante cuanto mayor es el número de variables (como veremos más adelante). 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171053"/>
      </p:ext>
    </p:extLst>
  </p:cSld>
  <p:clrMapOvr>
    <a:masterClrMapping/>
  </p:clrMapOvr>
  <p:transition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/>
              <a:t>Preparando los datos para el análisis</a:t>
            </a:r>
            <a:endParaRPr lang="es-E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727" y="819151"/>
            <a:ext cx="9439937" cy="5921621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sz="1900" dirty="0"/>
              <a:t>Es una tarea crucial que afecta a los resultados, aunque no ahondaremos en ello. Incluye operaciones como:</a:t>
            </a:r>
          </a:p>
          <a:p>
            <a:pPr lvl="1"/>
            <a:r>
              <a:rPr lang="es-ES_tradnl" sz="1800" dirty="0"/>
              <a:t>Selección de variables relevantes para el problema, puede incluir</a:t>
            </a:r>
          </a:p>
          <a:p>
            <a:pPr lvl="2"/>
            <a:r>
              <a:rPr lang="es-ES_tradnl" sz="1600" dirty="0"/>
              <a:t>Transformación de variables iniciales</a:t>
            </a:r>
          </a:p>
          <a:p>
            <a:pPr lvl="3"/>
            <a:r>
              <a:rPr lang="es-ES_tradnl" sz="1400" dirty="0"/>
              <a:t>Cambiar la escala de representación de las variables (normalizar)</a:t>
            </a:r>
          </a:p>
          <a:p>
            <a:pPr lvl="4"/>
            <a:r>
              <a:rPr lang="es-ES_tradnl" sz="1200" dirty="0"/>
              <a:t>Típicamente, las variables se escalan (se ponen en escala entre 0 y 1) o se estandarizan (se hace que tengan media 0 y varianza 1)</a:t>
            </a:r>
          </a:p>
          <a:p>
            <a:pPr lvl="4"/>
            <a:endParaRPr lang="es-ES_tradnl" sz="1200" dirty="0"/>
          </a:p>
          <a:p>
            <a:pPr marL="1828800" lvl="4" indent="0">
              <a:buNone/>
            </a:pPr>
            <a:r>
              <a:rPr lang="es-ES" sz="1600" b="0" dirty="0"/>
              <a:t>	</a:t>
            </a:r>
            <a:r>
              <a:rPr lang="es-ES_tradnl" sz="1800" dirty="0"/>
              <a:t> 	</a:t>
            </a:r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endParaRPr lang="es-ES_tradnl" sz="1200" dirty="0"/>
          </a:p>
          <a:p>
            <a:pPr lvl="4"/>
            <a:r>
              <a:rPr lang="es-ES_tradnl" sz="1200" dirty="0"/>
              <a:t>También se puede usar la transformada logarítmica de una variable para “concentrar” su rango,</a:t>
            </a:r>
          </a:p>
          <a:p>
            <a:pPr lvl="4"/>
            <a:r>
              <a:rPr lang="es-ES_tradnl" sz="1200" dirty="0"/>
              <a:t>etc. </a:t>
            </a:r>
          </a:p>
          <a:p>
            <a:pPr lvl="4"/>
            <a:endParaRPr lang="es-ES_tradnl" sz="120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14</a:t>
            </a:fld>
            <a:endParaRPr lang="es-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7C29-BD2F-3842-A03A-E4F5AFC813F1}"/>
              </a:ext>
            </a:extLst>
          </p:cNvPr>
          <p:cNvSpPr txBox="1"/>
          <p:nvPr/>
        </p:nvSpPr>
        <p:spPr>
          <a:xfrm>
            <a:off x="2288704" y="3933056"/>
            <a:ext cx="4026278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1400" dirty="0"/>
              <a:t>¿Cuál uso? Depende del problema, pero en general:</a:t>
            </a:r>
            <a:br>
              <a:rPr lang="es-ES_tradnl" sz="1400" dirty="0"/>
            </a:br>
            <a:r>
              <a:rPr lang="es-ES_tradnl" sz="1400" dirty="0"/>
              <a:t>- valores pequeños y rango pequeño -&gt; no hace falta</a:t>
            </a:r>
          </a:p>
          <a:p>
            <a:r>
              <a:rPr lang="es-ES_tradnl" sz="1400" dirty="0"/>
              <a:t>- distribución original normal -&gt; estandarizar</a:t>
            </a:r>
            <a:br>
              <a:rPr lang="es-ES_tradnl" sz="1400" dirty="0"/>
            </a:br>
            <a:r>
              <a:rPr lang="es-ES_tradnl" sz="1400" dirty="0"/>
              <a:t>- en otro caso -&gt; escalar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C6AE67-FBBB-BC45-B6C1-F29B3F568F9E}"/>
              </a:ext>
            </a:extLst>
          </p:cNvPr>
          <p:cNvGrpSpPr/>
          <p:nvPr/>
        </p:nvGrpSpPr>
        <p:grpSpPr>
          <a:xfrm>
            <a:off x="2264225" y="2925978"/>
            <a:ext cx="1976117" cy="940485"/>
            <a:chOff x="2264225" y="2925978"/>
            <a:chExt cx="1976117" cy="94048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6844767-253E-3845-9F77-C9421A346C03}"/>
                </a:ext>
              </a:extLst>
            </p:cNvPr>
            <p:cNvSpPr txBox="1"/>
            <p:nvPr/>
          </p:nvSpPr>
          <p:spPr>
            <a:xfrm>
              <a:off x="2748227" y="3558686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i="1" dirty="0"/>
                <a:t>escalar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EE6D07-0056-6043-9D61-D13F7823DC06}"/>
                    </a:ext>
                  </a:extLst>
                </p:cNvPr>
                <p:cNvSpPr/>
                <p:nvPr/>
              </p:nvSpPr>
              <p:spPr>
                <a:xfrm>
                  <a:off x="2264225" y="2925978"/>
                  <a:ext cx="1976117" cy="6135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s-ES_tradnl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EE6D07-0056-6043-9D61-D13F7823DC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4225" y="2925978"/>
                  <a:ext cx="1976117" cy="613566"/>
                </a:xfrm>
                <a:prstGeom prst="rect">
                  <a:avLst/>
                </a:prstGeom>
                <a:blipFill>
                  <a:blip r:embed="rId3"/>
                  <a:stretch>
                    <a:fillRect t="-8163" b="-2041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6D8053-DA42-F44E-ACA5-7859920111BC}"/>
              </a:ext>
            </a:extLst>
          </p:cNvPr>
          <p:cNvGrpSpPr/>
          <p:nvPr/>
        </p:nvGrpSpPr>
        <p:grpSpPr>
          <a:xfrm>
            <a:off x="4300044" y="2864237"/>
            <a:ext cx="1354455" cy="983084"/>
            <a:chOff x="4300044" y="2864237"/>
            <a:chExt cx="1354455" cy="98308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B42ED-4C83-F64A-BBA7-3071C56C0DCC}"/>
                </a:ext>
              </a:extLst>
            </p:cNvPr>
            <p:cNvSpPr txBox="1"/>
            <p:nvPr/>
          </p:nvSpPr>
          <p:spPr>
            <a:xfrm>
              <a:off x="4502371" y="3539544"/>
              <a:ext cx="1152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b="1" i="1"/>
                <a:t>estandarizar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A0745C6-F17D-AB4E-9602-63F50171479B}"/>
                    </a:ext>
                  </a:extLst>
                </p:cNvPr>
                <p:cNvSpPr/>
                <p:nvPr/>
              </p:nvSpPr>
              <p:spPr>
                <a:xfrm>
                  <a:off x="4300044" y="2864237"/>
                  <a:ext cx="1280415" cy="6039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oMath>
                    </m:oMathPara>
                  </a14:m>
                  <a:endParaRPr lang="es-ES_tradnl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A0745C6-F17D-AB4E-9602-63F501714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0044" y="2864237"/>
                  <a:ext cx="1280415" cy="6039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69884044"/>
      </p:ext>
    </p:extLst>
  </p:cSld>
  <p:clrMapOvr>
    <a:masterClrMapping/>
  </p:clrMapOvr>
  <p:transition>
    <p:cover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/>
              <a:t>Preparando los datos para el análisis</a:t>
            </a:r>
            <a:endParaRPr lang="es-E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727" y="819151"/>
            <a:ext cx="9439937" cy="5921621"/>
          </a:xfrm>
        </p:spPr>
        <p:txBody>
          <a:bodyPr>
            <a:normAutofit/>
          </a:bodyPr>
          <a:lstStyle/>
          <a:p>
            <a:pPr lvl="1"/>
            <a:r>
              <a:rPr lang="es-ES_tradnl" sz="1800" dirty="0"/>
              <a:t>Selección de variables relevantes para el problema, puede incluir (continuación)</a:t>
            </a:r>
          </a:p>
          <a:p>
            <a:pPr lvl="2"/>
            <a:r>
              <a:rPr lang="es-ES_tradnl" sz="1600" dirty="0"/>
              <a:t>Transformación de variables iniciales</a:t>
            </a:r>
          </a:p>
          <a:p>
            <a:pPr lvl="3"/>
            <a:r>
              <a:rPr lang="es-ES_tradnl" sz="1400" dirty="0"/>
              <a:t>Discretizar una variable numérica, es decir, dividir su rango de valores posibles en categorías ordenadas</a:t>
            </a:r>
          </a:p>
          <a:p>
            <a:pPr lvl="4"/>
            <a:r>
              <a:rPr lang="es-ES_tradnl" sz="1200" dirty="0"/>
              <a:t>Edad: [0 – 100] ➔ Bebé, Niño, Adolescente, Joven, Adulto, Anciano</a:t>
            </a:r>
          </a:p>
          <a:p>
            <a:pPr marL="1371600" lvl="3" indent="0">
              <a:buNone/>
            </a:pPr>
            <a:endParaRPr lang="es-ES_tradnl" sz="1400" dirty="0"/>
          </a:p>
          <a:p>
            <a:pPr lvl="3"/>
            <a:r>
              <a:rPr lang="es-ES_tradnl" sz="1400" dirty="0"/>
              <a:t>Transformación de variables categóricas en variables binarias (una variable por categoría)</a:t>
            </a:r>
          </a:p>
          <a:p>
            <a:pPr lvl="4"/>
            <a:r>
              <a:rPr lang="es-ES_tradnl" sz="1200" dirty="0"/>
              <a:t>Cuando las categorías no tienen orden</a:t>
            </a:r>
          </a:p>
          <a:p>
            <a:pPr marL="914400" lvl="2" indent="0">
              <a:buNone/>
            </a:pPr>
            <a:endParaRPr lang="es-ES_tradnl" sz="1600" dirty="0"/>
          </a:p>
          <a:p>
            <a:pPr lvl="2"/>
            <a:endParaRPr lang="es-ES_tradnl" sz="1600" dirty="0"/>
          </a:p>
          <a:p>
            <a:pPr lvl="2"/>
            <a:endParaRPr lang="es-ES_tradnl" sz="1600" dirty="0"/>
          </a:p>
          <a:p>
            <a:pPr lvl="2"/>
            <a:endParaRPr lang="es-ES_tradnl" sz="1600" dirty="0"/>
          </a:p>
          <a:p>
            <a:pPr lvl="2"/>
            <a:r>
              <a:rPr lang="es-ES_tradnl" sz="1600" dirty="0"/>
              <a:t>Combinación de variables iniciales</a:t>
            </a:r>
          </a:p>
          <a:p>
            <a:pPr lvl="3"/>
            <a:r>
              <a:rPr lang="es-ES_tradnl" sz="1400" dirty="0"/>
              <a:t>P. ej. agrupando aquellas variables que están muy correlacionadas</a:t>
            </a:r>
          </a:p>
          <a:p>
            <a:pPr lvl="2"/>
            <a:r>
              <a:rPr lang="es-ES_tradnl" sz="1600" dirty="0"/>
              <a:t>Eliminación de variables no relevantes o redundantes</a:t>
            </a:r>
          </a:p>
          <a:p>
            <a:pPr marL="457200" lvl="1" indent="0">
              <a:buNone/>
            </a:pPr>
            <a:endParaRPr lang="es-ES_tradnl" sz="180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15</a:t>
            </a:fld>
            <a:endParaRPr lang="es-ES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4D7DAE6D-63A0-E946-9FEC-E0278418E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76920"/>
              </p:ext>
            </p:extLst>
          </p:nvPr>
        </p:nvGraphicFramePr>
        <p:xfrm>
          <a:off x="2432720" y="3018828"/>
          <a:ext cx="1656184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046">
                  <a:extLst>
                    <a:ext uri="{9D8B030D-6E8A-4147-A177-3AD203B41FA5}">
                      <a16:colId xmlns:a16="http://schemas.microsoft.com/office/drawing/2014/main" val="3897708654"/>
                    </a:ext>
                  </a:extLst>
                </a:gridCol>
                <a:gridCol w="1242138">
                  <a:extLst>
                    <a:ext uri="{9D8B030D-6E8A-4147-A177-3AD203B41FA5}">
                      <a16:colId xmlns:a16="http://schemas.microsoft.com/office/drawing/2014/main" val="2400233468"/>
                    </a:ext>
                  </a:extLst>
                </a:gridCol>
              </a:tblGrid>
              <a:tr h="224638">
                <a:tc>
                  <a:txBody>
                    <a:bodyPr/>
                    <a:lstStyle/>
                    <a:p>
                      <a:pPr algn="ctr"/>
                      <a:endParaRPr lang="es-ES_tradnl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1"/>
                        <a:t>Nacionalidad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804360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Español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01377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dirty="0"/>
                        <a:t>Frances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656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A9F56BA-568B-A54F-8C4E-FB12389AC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77255"/>
              </p:ext>
            </p:extLst>
          </p:nvPr>
        </p:nvGraphicFramePr>
        <p:xfrm>
          <a:off x="4592960" y="2996952"/>
          <a:ext cx="2009836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659">
                  <a:extLst>
                    <a:ext uri="{9D8B030D-6E8A-4147-A177-3AD203B41FA5}">
                      <a16:colId xmlns:a16="http://schemas.microsoft.com/office/drawing/2014/main" val="423839118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32656269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103918333"/>
                    </a:ext>
                  </a:extLst>
                </a:gridCol>
              </a:tblGrid>
              <a:tr h="224638">
                <a:tc>
                  <a:txBody>
                    <a:bodyPr/>
                    <a:lstStyle/>
                    <a:p>
                      <a:pPr algn="ctr"/>
                      <a:endParaRPr lang="es-ES_tradnl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1"/>
                        <a:t>Español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/>
                        <a:t>Francés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868738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190946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11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705152"/>
      </p:ext>
    </p:extLst>
  </p:cSld>
  <p:clrMapOvr>
    <a:masterClrMapping/>
  </p:clrMapOvr>
  <p:transition>
    <p:cover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C333-0063-0682-EBA4-4FC07443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7DA6F6F-A0E6-96B3-D212-828EA5D0D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/>
              <a:t>Preparando los datos para el análisis</a:t>
            </a:r>
            <a:endParaRPr lang="es-E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7CB0AAF-2E93-C053-9D7F-FFA383971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727" y="819151"/>
            <a:ext cx="9439937" cy="5921621"/>
          </a:xfrm>
        </p:spPr>
        <p:txBody>
          <a:bodyPr>
            <a:normAutofit/>
          </a:bodyPr>
          <a:lstStyle/>
          <a:p>
            <a:pPr lvl="1"/>
            <a:r>
              <a:rPr lang="es-ES_tradnl" sz="1800" dirty="0"/>
              <a:t>Tratamiento de valores perdidos. Es posible que algún valor de alguna variable para algún individuo no esté disponible en nuestra matriz</a:t>
            </a:r>
          </a:p>
          <a:p>
            <a:pPr lvl="2"/>
            <a:r>
              <a:rPr lang="es-ES_tradnl" sz="1600" dirty="0"/>
              <a:t>Si faltan pocos datos quizás podemos descartar esas filas</a:t>
            </a:r>
          </a:p>
          <a:p>
            <a:pPr lvl="2"/>
            <a:r>
              <a:rPr lang="es-ES_tradnl" sz="1600" dirty="0"/>
              <a:t>Otras opciones: asignar el valor medio en variables cuantitativas, 0 o el valor modal (el más repetido) en variables cualitativas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D2BEEB-0796-96BE-168F-DC971CA0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4E2B48-9784-ADB3-1782-2DC58809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16</a:t>
            </a:fld>
            <a:endParaRPr lang="es-ES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522F77CF-107B-100D-F2A4-18713E85DF1D}"/>
              </a:ext>
            </a:extLst>
          </p:cNvPr>
          <p:cNvGraphicFramePr>
            <a:graphicFrameLocks noGrp="1"/>
          </p:cNvGraphicFramePr>
          <p:nvPr/>
        </p:nvGraphicFramePr>
        <p:xfrm>
          <a:off x="2864768" y="3573016"/>
          <a:ext cx="4824538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526">
                  <a:extLst>
                    <a:ext uri="{9D8B030D-6E8A-4147-A177-3AD203B41FA5}">
                      <a16:colId xmlns:a16="http://schemas.microsoft.com/office/drawing/2014/main" val="3897708654"/>
                    </a:ext>
                  </a:extLst>
                </a:gridCol>
                <a:gridCol w="1062253">
                  <a:extLst>
                    <a:ext uri="{9D8B030D-6E8A-4147-A177-3AD203B41FA5}">
                      <a16:colId xmlns:a16="http://schemas.microsoft.com/office/drawing/2014/main" val="2400233468"/>
                    </a:ext>
                  </a:extLst>
                </a:gridCol>
                <a:gridCol w="1062253">
                  <a:extLst>
                    <a:ext uri="{9D8B030D-6E8A-4147-A177-3AD203B41FA5}">
                      <a16:colId xmlns:a16="http://schemas.microsoft.com/office/drawing/2014/main" val="3233466945"/>
                    </a:ext>
                  </a:extLst>
                </a:gridCol>
                <a:gridCol w="1062253">
                  <a:extLst>
                    <a:ext uri="{9D8B030D-6E8A-4147-A177-3AD203B41FA5}">
                      <a16:colId xmlns:a16="http://schemas.microsoft.com/office/drawing/2014/main" val="3726245609"/>
                    </a:ext>
                  </a:extLst>
                </a:gridCol>
                <a:gridCol w="1062253">
                  <a:extLst>
                    <a:ext uri="{9D8B030D-6E8A-4147-A177-3AD203B41FA5}">
                      <a16:colId xmlns:a16="http://schemas.microsoft.com/office/drawing/2014/main" val="4107538114"/>
                    </a:ext>
                  </a:extLst>
                </a:gridCol>
              </a:tblGrid>
              <a:tr h="224638">
                <a:tc>
                  <a:txBody>
                    <a:bodyPr/>
                    <a:lstStyle/>
                    <a:p>
                      <a:pPr algn="ctr"/>
                      <a:endParaRPr lang="es-ES_tradnl" sz="13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b="1"/>
                        <a:t>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b="1"/>
                        <a:t>Altura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b="1"/>
                        <a:t>Peso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b="1"/>
                        <a:t>Educación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804360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01377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Secundaria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65639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id3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62499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id4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285543"/>
                  </a:ext>
                </a:extLst>
              </a:tr>
              <a:tr h="242797"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47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02679"/>
      </p:ext>
    </p:extLst>
  </p:cSld>
  <p:clrMapOvr>
    <a:masterClrMapping/>
  </p:clrMapOvr>
  <p:transition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/>
              <a:t>Entendiendo los datos</a:t>
            </a:r>
            <a:endParaRPr lang="es-E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727" y="819151"/>
            <a:ext cx="9439937" cy="5921621"/>
          </a:xfrm>
        </p:spPr>
        <p:txBody>
          <a:bodyPr>
            <a:normAutofit/>
          </a:bodyPr>
          <a:lstStyle/>
          <a:p>
            <a:r>
              <a:rPr lang="es-ES" sz="2000" dirty="0"/>
              <a:t>Antes de acometer una tarea de aprendizaje automático conviene entender los datos lo mejor posible, para ello suele ser recomendable “trabajarlos” previamente</a:t>
            </a:r>
          </a:p>
          <a:p>
            <a:pPr lvl="1"/>
            <a:r>
              <a:rPr lang="es-ES" sz="1800" dirty="0"/>
              <a:t>Visualización de datos: </a:t>
            </a:r>
          </a:p>
          <a:p>
            <a:pPr lvl="2"/>
            <a:r>
              <a:rPr lang="es-ES" sz="1600" dirty="0"/>
              <a:t>Permite determinar qué variables están más relacionadas entre sí y cuál es la naturaleza de la relación (lineal, exponencial, </a:t>
            </a:r>
            <a:r>
              <a:rPr lang="es-ES" sz="1600" dirty="0" err="1"/>
              <a:t>etc</a:t>
            </a:r>
            <a:r>
              <a:rPr lang="es-ES" sz="1600" dirty="0"/>
              <a:t>)</a:t>
            </a:r>
          </a:p>
          <a:p>
            <a:pPr lvl="2"/>
            <a:r>
              <a:rPr lang="es-ES" sz="1600" dirty="0"/>
              <a:t>En los problemas de clasificación permite ver cómo de bien se separan las clases y qué variables separan mejor</a:t>
            </a:r>
          </a:p>
          <a:p>
            <a:pPr lvl="1"/>
            <a:r>
              <a:rPr lang="es-ES" sz="1800" dirty="0"/>
              <a:t>Calcular estadísticos descriptivos: </a:t>
            </a:r>
          </a:p>
          <a:p>
            <a:pPr lvl="2"/>
            <a:r>
              <a:rPr lang="es-ES" sz="1600" dirty="0"/>
              <a:t>Tendencia central: media, mediana, moda</a:t>
            </a:r>
          </a:p>
          <a:p>
            <a:pPr lvl="2"/>
            <a:r>
              <a:rPr lang="es-ES" sz="1600" dirty="0"/>
              <a:t>Dispersión: desviación típica, valores mínimos y máximos, percentiles</a:t>
            </a:r>
          </a:p>
          <a:p>
            <a:pPr lvl="2"/>
            <a:r>
              <a:rPr lang="es-ES" sz="1600" dirty="0"/>
              <a:t>Bivariantes: coeficiente de correlación o tablas de contingencia</a:t>
            </a:r>
          </a:p>
          <a:p>
            <a:pPr lvl="1"/>
            <a:r>
              <a:rPr lang="es-ES" sz="1800" dirty="0"/>
              <a:t>Representar la distribución de las variables</a:t>
            </a:r>
          </a:p>
          <a:p>
            <a:pPr lvl="2"/>
            <a:r>
              <a:rPr lang="es-ES" sz="1600" dirty="0"/>
              <a:t>Observar valores más frecuentes y valores extremos (¿tienen sentido o son aberrantes?)</a:t>
            </a:r>
          </a:p>
          <a:p>
            <a:pPr lvl="1"/>
            <a:r>
              <a:rPr lang="es-ES" sz="1800" dirty="0"/>
              <a:t>Usar técnicas de </a:t>
            </a:r>
            <a:r>
              <a:rPr lang="es-ES" sz="1800" b="1" dirty="0"/>
              <a:t>aprendizaje no supervisado </a:t>
            </a:r>
            <a:r>
              <a:rPr lang="es-ES" sz="1800" dirty="0"/>
              <a:t>para encontrar </a:t>
            </a:r>
            <a:r>
              <a:rPr lang="es-ES" sz="1800" i="1" dirty="0"/>
              <a:t>estructura</a:t>
            </a:r>
            <a:r>
              <a:rPr lang="es-ES" sz="1800" dirty="0"/>
              <a:t> en los datos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Aprendizaje automático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s-ES"/>
              <a:t>                         			          ISIA – FDI – UCM		    	   Aprendizaje Automático  - </a:t>
            </a:r>
            <a:fld id="{058B433F-6FC9-4D8E-935C-0685DA937467}" type="slidenum">
              <a:rPr lang="es-ES" smtClean="0"/>
              <a:pPr algn="ctr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139714"/>
      </p:ext>
    </p:extLst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18955</TotalTime>
  <Words>2543</Words>
  <Application>Microsoft Office PowerPoint</Application>
  <PresentationFormat>A4 Paper (210x297 mm)</PresentationFormat>
  <Paragraphs>284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Narrow</vt:lpstr>
      <vt:lpstr>Calibri</vt:lpstr>
      <vt:lpstr>Cambria Math</vt:lpstr>
      <vt:lpstr>CMBX12</vt:lpstr>
      <vt:lpstr>CMR12</vt:lpstr>
      <vt:lpstr>Times New Roman</vt:lpstr>
      <vt:lpstr>Tema de Office</vt:lpstr>
      <vt:lpstr>Aprendizaje automático</vt:lpstr>
      <vt:lpstr>Aprendizaje automático</vt:lpstr>
      <vt:lpstr>Introducción</vt:lpstr>
      <vt:lpstr>¿Qué entendemos por aprendizaje?</vt:lpstr>
      <vt:lpstr>Aprendizaje Automático (machine learning) </vt:lpstr>
      <vt:lpstr>Aprendizaje Automático (machine learning)  e IA subsimbólica</vt:lpstr>
      <vt:lpstr>Tipos de Aprendizaje</vt:lpstr>
      <vt:lpstr>Tipos de aprendizaje: según el grado de realimentación</vt:lpstr>
      <vt:lpstr>representación de los individuos</vt:lpstr>
      <vt:lpstr>Representación de los individuos</vt:lpstr>
      <vt:lpstr>Representación de los individuos en el espacio</vt:lpstr>
      <vt:lpstr>Ejemplo de diagramas de dispersión</vt:lpstr>
      <vt:lpstr>Importancia de la adecuada representación de los individuos</vt:lpstr>
      <vt:lpstr>Preparando los datos para el análisis</vt:lpstr>
      <vt:lpstr>Preparando los datos para el análisis</vt:lpstr>
      <vt:lpstr>Preparando los datos para el análisis</vt:lpstr>
      <vt:lpstr>Entendiendo los datos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Carmen;Javier</dc:creator>
  <cp:lastModifiedBy>Iván García-Magariño</cp:lastModifiedBy>
  <cp:revision>667</cp:revision>
  <cp:lastPrinted>2022-02-07T09:20:27Z</cp:lastPrinted>
  <dcterms:created xsi:type="dcterms:W3CDTF">2013-07-23T10:47:21Z</dcterms:created>
  <dcterms:modified xsi:type="dcterms:W3CDTF">2026-04-07T13:20:38Z</dcterms:modified>
</cp:coreProperties>
</file>